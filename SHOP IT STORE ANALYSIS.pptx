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7" r:id="rId3"/>
    <p:sldId id="258"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D280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4" autoAdjust="0"/>
    <p:restoredTop sz="94660"/>
  </p:normalViewPr>
  <p:slideViewPr>
    <p:cSldViewPr snapToGrid="0">
      <p:cViewPr varScale="1">
        <p:scale>
          <a:sx n="67" d="100"/>
          <a:sy n="67" d="100"/>
        </p:scale>
        <p:origin x="60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7A408-38CC-4B5E-8610-95E12CBE73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8A807C-FDB5-4806-AF84-DC39B0C307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E2B6D63-9A28-4900-8411-1FB6E9C711A5}"/>
              </a:ext>
            </a:extLst>
          </p:cNvPr>
          <p:cNvSpPr>
            <a:spLocks noGrp="1"/>
          </p:cNvSpPr>
          <p:nvPr>
            <p:ph type="dt" sz="half" idx="10"/>
          </p:nvPr>
        </p:nvSpPr>
        <p:spPr/>
        <p:txBody>
          <a:bodyPr/>
          <a:lstStyle/>
          <a:p>
            <a:fld id="{2EC29C88-9BBA-4004-98E1-D2A09C87577E}" type="datetimeFigureOut">
              <a:rPr lang="en-US" smtClean="0"/>
              <a:t>2/19/2026</a:t>
            </a:fld>
            <a:endParaRPr lang="en-US"/>
          </a:p>
        </p:txBody>
      </p:sp>
      <p:sp>
        <p:nvSpPr>
          <p:cNvPr id="5" name="Footer Placeholder 4">
            <a:extLst>
              <a:ext uri="{FF2B5EF4-FFF2-40B4-BE49-F238E27FC236}">
                <a16:creationId xmlns:a16="http://schemas.microsoft.com/office/drawing/2014/main" id="{30B025D8-7D3E-4BFF-BEF5-C0751F1957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4015A9-E9CE-4ED3-9783-94EDB5907739}"/>
              </a:ext>
            </a:extLst>
          </p:cNvPr>
          <p:cNvSpPr>
            <a:spLocks noGrp="1"/>
          </p:cNvSpPr>
          <p:nvPr>
            <p:ph type="sldNum" sz="quarter" idx="12"/>
          </p:nvPr>
        </p:nvSpPr>
        <p:spPr/>
        <p:txBody>
          <a:bodyPr/>
          <a:lstStyle/>
          <a:p>
            <a:fld id="{331838FC-08FA-4194-B56F-C2E5870C8F6D}" type="slidenum">
              <a:rPr lang="en-US" smtClean="0"/>
              <a:t>‹#›</a:t>
            </a:fld>
            <a:endParaRPr lang="en-US"/>
          </a:p>
        </p:txBody>
      </p:sp>
    </p:spTree>
    <p:extLst>
      <p:ext uri="{BB962C8B-B14F-4D97-AF65-F5344CB8AC3E}">
        <p14:creationId xmlns:p14="http://schemas.microsoft.com/office/powerpoint/2010/main" val="578849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9667F-BD4C-45E4-B6E2-B697BC85B6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623A95-C745-4211-8A1E-42BBC5B4758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3DF9ED-D126-454C-BC50-70F82A77A8CD}"/>
              </a:ext>
            </a:extLst>
          </p:cNvPr>
          <p:cNvSpPr>
            <a:spLocks noGrp="1"/>
          </p:cNvSpPr>
          <p:nvPr>
            <p:ph type="dt" sz="half" idx="10"/>
          </p:nvPr>
        </p:nvSpPr>
        <p:spPr/>
        <p:txBody>
          <a:bodyPr/>
          <a:lstStyle/>
          <a:p>
            <a:fld id="{2EC29C88-9BBA-4004-98E1-D2A09C87577E}" type="datetimeFigureOut">
              <a:rPr lang="en-US" smtClean="0"/>
              <a:t>2/19/2026</a:t>
            </a:fld>
            <a:endParaRPr lang="en-US"/>
          </a:p>
        </p:txBody>
      </p:sp>
      <p:sp>
        <p:nvSpPr>
          <p:cNvPr id="5" name="Footer Placeholder 4">
            <a:extLst>
              <a:ext uri="{FF2B5EF4-FFF2-40B4-BE49-F238E27FC236}">
                <a16:creationId xmlns:a16="http://schemas.microsoft.com/office/drawing/2014/main" id="{B80C3A04-979A-47D5-B68D-E0BD06B4C0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B38B35-1057-4551-9F1F-B0D2C19CDC4B}"/>
              </a:ext>
            </a:extLst>
          </p:cNvPr>
          <p:cNvSpPr>
            <a:spLocks noGrp="1"/>
          </p:cNvSpPr>
          <p:nvPr>
            <p:ph type="sldNum" sz="quarter" idx="12"/>
          </p:nvPr>
        </p:nvSpPr>
        <p:spPr/>
        <p:txBody>
          <a:bodyPr/>
          <a:lstStyle/>
          <a:p>
            <a:fld id="{331838FC-08FA-4194-B56F-C2E5870C8F6D}" type="slidenum">
              <a:rPr lang="en-US" smtClean="0"/>
              <a:t>‹#›</a:t>
            </a:fld>
            <a:endParaRPr lang="en-US"/>
          </a:p>
        </p:txBody>
      </p:sp>
    </p:spTree>
    <p:extLst>
      <p:ext uri="{BB962C8B-B14F-4D97-AF65-F5344CB8AC3E}">
        <p14:creationId xmlns:p14="http://schemas.microsoft.com/office/powerpoint/2010/main" val="1174186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B330F-390E-4B64-BDDC-700105949D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1B11E2-6C16-40B5-AEFE-88F1BF7817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EB82260-157C-4166-8EED-6E3EE0E1A749}"/>
              </a:ext>
            </a:extLst>
          </p:cNvPr>
          <p:cNvSpPr>
            <a:spLocks noGrp="1"/>
          </p:cNvSpPr>
          <p:nvPr>
            <p:ph type="dt" sz="half" idx="10"/>
          </p:nvPr>
        </p:nvSpPr>
        <p:spPr/>
        <p:txBody>
          <a:bodyPr/>
          <a:lstStyle/>
          <a:p>
            <a:fld id="{2EC29C88-9BBA-4004-98E1-D2A09C87577E}" type="datetimeFigureOut">
              <a:rPr lang="en-US" smtClean="0"/>
              <a:t>2/19/2026</a:t>
            </a:fld>
            <a:endParaRPr lang="en-US"/>
          </a:p>
        </p:txBody>
      </p:sp>
      <p:sp>
        <p:nvSpPr>
          <p:cNvPr id="5" name="Footer Placeholder 4">
            <a:extLst>
              <a:ext uri="{FF2B5EF4-FFF2-40B4-BE49-F238E27FC236}">
                <a16:creationId xmlns:a16="http://schemas.microsoft.com/office/drawing/2014/main" id="{86B93BE9-9E91-4EE9-9C0A-EF42AC656D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054B22-A80A-4188-ACB1-52B988DE978F}"/>
              </a:ext>
            </a:extLst>
          </p:cNvPr>
          <p:cNvSpPr>
            <a:spLocks noGrp="1"/>
          </p:cNvSpPr>
          <p:nvPr>
            <p:ph type="sldNum" sz="quarter" idx="12"/>
          </p:nvPr>
        </p:nvSpPr>
        <p:spPr/>
        <p:txBody>
          <a:bodyPr/>
          <a:lstStyle/>
          <a:p>
            <a:fld id="{331838FC-08FA-4194-B56F-C2E5870C8F6D}" type="slidenum">
              <a:rPr lang="en-US" smtClean="0"/>
              <a:t>‹#›</a:t>
            </a:fld>
            <a:endParaRPr lang="en-US"/>
          </a:p>
        </p:txBody>
      </p:sp>
    </p:spTree>
    <p:extLst>
      <p:ext uri="{BB962C8B-B14F-4D97-AF65-F5344CB8AC3E}">
        <p14:creationId xmlns:p14="http://schemas.microsoft.com/office/powerpoint/2010/main" val="2043767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7F247-9E66-4F11-B6E4-4EF0D3FEAC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DC79ED-5FFD-4019-B9E2-B0BE936CFDD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3570D9-DCEF-4CDE-B7F8-3772F7722DC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3FB2E7-67B8-488C-9A82-DAA0B96094D1}"/>
              </a:ext>
            </a:extLst>
          </p:cNvPr>
          <p:cNvSpPr>
            <a:spLocks noGrp="1"/>
          </p:cNvSpPr>
          <p:nvPr>
            <p:ph type="dt" sz="half" idx="10"/>
          </p:nvPr>
        </p:nvSpPr>
        <p:spPr/>
        <p:txBody>
          <a:bodyPr/>
          <a:lstStyle/>
          <a:p>
            <a:fld id="{2EC29C88-9BBA-4004-98E1-D2A09C87577E}" type="datetimeFigureOut">
              <a:rPr lang="en-US" smtClean="0"/>
              <a:t>2/19/2026</a:t>
            </a:fld>
            <a:endParaRPr lang="en-US"/>
          </a:p>
        </p:txBody>
      </p:sp>
      <p:sp>
        <p:nvSpPr>
          <p:cNvPr id="6" name="Footer Placeholder 5">
            <a:extLst>
              <a:ext uri="{FF2B5EF4-FFF2-40B4-BE49-F238E27FC236}">
                <a16:creationId xmlns:a16="http://schemas.microsoft.com/office/drawing/2014/main" id="{85556381-3EF7-4554-B4C6-C83D319B8A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CD3B72-6A41-436D-A76B-9A287174EE06}"/>
              </a:ext>
            </a:extLst>
          </p:cNvPr>
          <p:cNvSpPr>
            <a:spLocks noGrp="1"/>
          </p:cNvSpPr>
          <p:nvPr>
            <p:ph type="sldNum" sz="quarter" idx="12"/>
          </p:nvPr>
        </p:nvSpPr>
        <p:spPr/>
        <p:txBody>
          <a:bodyPr/>
          <a:lstStyle/>
          <a:p>
            <a:fld id="{331838FC-08FA-4194-B56F-C2E5870C8F6D}" type="slidenum">
              <a:rPr lang="en-US" smtClean="0"/>
              <a:t>‹#›</a:t>
            </a:fld>
            <a:endParaRPr lang="en-US"/>
          </a:p>
        </p:txBody>
      </p:sp>
    </p:spTree>
    <p:extLst>
      <p:ext uri="{BB962C8B-B14F-4D97-AF65-F5344CB8AC3E}">
        <p14:creationId xmlns:p14="http://schemas.microsoft.com/office/powerpoint/2010/main" val="3570507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F9669-0613-4926-A36F-FE68128B97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DE49D5-9BAD-4230-8CB9-0C8DCE3321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01963CE-638C-45BC-BFF9-03FA11157A1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5A7DDE-E5E4-4634-ABE2-257EDF98A1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AB2BDE3-DCE5-4C7C-9DEE-B9C6ED8446F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3BFF01-8019-4831-9D67-332BD7A45912}"/>
              </a:ext>
            </a:extLst>
          </p:cNvPr>
          <p:cNvSpPr>
            <a:spLocks noGrp="1"/>
          </p:cNvSpPr>
          <p:nvPr>
            <p:ph type="dt" sz="half" idx="10"/>
          </p:nvPr>
        </p:nvSpPr>
        <p:spPr/>
        <p:txBody>
          <a:bodyPr/>
          <a:lstStyle/>
          <a:p>
            <a:fld id="{2EC29C88-9BBA-4004-98E1-D2A09C87577E}" type="datetimeFigureOut">
              <a:rPr lang="en-US" smtClean="0"/>
              <a:t>2/19/2026</a:t>
            </a:fld>
            <a:endParaRPr lang="en-US"/>
          </a:p>
        </p:txBody>
      </p:sp>
      <p:sp>
        <p:nvSpPr>
          <p:cNvPr id="8" name="Footer Placeholder 7">
            <a:extLst>
              <a:ext uri="{FF2B5EF4-FFF2-40B4-BE49-F238E27FC236}">
                <a16:creationId xmlns:a16="http://schemas.microsoft.com/office/drawing/2014/main" id="{1E4BF7D2-1BB5-4186-9CC0-503489A98A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73C569-60B4-4380-BFC7-990F14744095}"/>
              </a:ext>
            </a:extLst>
          </p:cNvPr>
          <p:cNvSpPr>
            <a:spLocks noGrp="1"/>
          </p:cNvSpPr>
          <p:nvPr>
            <p:ph type="sldNum" sz="quarter" idx="12"/>
          </p:nvPr>
        </p:nvSpPr>
        <p:spPr/>
        <p:txBody>
          <a:bodyPr/>
          <a:lstStyle/>
          <a:p>
            <a:fld id="{331838FC-08FA-4194-B56F-C2E5870C8F6D}" type="slidenum">
              <a:rPr lang="en-US" smtClean="0"/>
              <a:t>‹#›</a:t>
            </a:fld>
            <a:endParaRPr lang="en-US"/>
          </a:p>
        </p:txBody>
      </p:sp>
    </p:spTree>
    <p:extLst>
      <p:ext uri="{BB962C8B-B14F-4D97-AF65-F5344CB8AC3E}">
        <p14:creationId xmlns:p14="http://schemas.microsoft.com/office/powerpoint/2010/main" val="2787073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DADC2-38D3-4EAB-AA51-B18D5DB0F7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F68702-AC85-4ADF-AD41-BB69BBB9C040}"/>
              </a:ext>
            </a:extLst>
          </p:cNvPr>
          <p:cNvSpPr>
            <a:spLocks noGrp="1"/>
          </p:cNvSpPr>
          <p:nvPr>
            <p:ph type="dt" sz="half" idx="10"/>
          </p:nvPr>
        </p:nvSpPr>
        <p:spPr/>
        <p:txBody>
          <a:bodyPr/>
          <a:lstStyle/>
          <a:p>
            <a:fld id="{2EC29C88-9BBA-4004-98E1-D2A09C87577E}" type="datetimeFigureOut">
              <a:rPr lang="en-US" smtClean="0"/>
              <a:t>2/19/2026</a:t>
            </a:fld>
            <a:endParaRPr lang="en-US"/>
          </a:p>
        </p:txBody>
      </p:sp>
      <p:sp>
        <p:nvSpPr>
          <p:cNvPr id="4" name="Footer Placeholder 3">
            <a:extLst>
              <a:ext uri="{FF2B5EF4-FFF2-40B4-BE49-F238E27FC236}">
                <a16:creationId xmlns:a16="http://schemas.microsoft.com/office/drawing/2014/main" id="{1F7875B8-F347-49A8-98B2-4B099FBFE8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DC82AE-0A7C-4C2C-9D29-27F358F255AD}"/>
              </a:ext>
            </a:extLst>
          </p:cNvPr>
          <p:cNvSpPr>
            <a:spLocks noGrp="1"/>
          </p:cNvSpPr>
          <p:nvPr>
            <p:ph type="sldNum" sz="quarter" idx="12"/>
          </p:nvPr>
        </p:nvSpPr>
        <p:spPr/>
        <p:txBody>
          <a:bodyPr/>
          <a:lstStyle/>
          <a:p>
            <a:fld id="{331838FC-08FA-4194-B56F-C2E5870C8F6D}" type="slidenum">
              <a:rPr lang="en-US" smtClean="0"/>
              <a:t>‹#›</a:t>
            </a:fld>
            <a:endParaRPr lang="en-US"/>
          </a:p>
        </p:txBody>
      </p:sp>
    </p:spTree>
    <p:extLst>
      <p:ext uri="{BB962C8B-B14F-4D97-AF65-F5344CB8AC3E}">
        <p14:creationId xmlns:p14="http://schemas.microsoft.com/office/powerpoint/2010/main" val="323777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512D14-1C79-43D1-B6E3-CD9951235F7E}"/>
              </a:ext>
            </a:extLst>
          </p:cNvPr>
          <p:cNvSpPr>
            <a:spLocks noGrp="1"/>
          </p:cNvSpPr>
          <p:nvPr>
            <p:ph type="dt" sz="half" idx="10"/>
          </p:nvPr>
        </p:nvSpPr>
        <p:spPr/>
        <p:txBody>
          <a:bodyPr/>
          <a:lstStyle/>
          <a:p>
            <a:fld id="{2EC29C88-9BBA-4004-98E1-D2A09C87577E}" type="datetimeFigureOut">
              <a:rPr lang="en-US" smtClean="0"/>
              <a:t>2/19/2026</a:t>
            </a:fld>
            <a:endParaRPr lang="en-US"/>
          </a:p>
        </p:txBody>
      </p:sp>
      <p:sp>
        <p:nvSpPr>
          <p:cNvPr id="3" name="Footer Placeholder 2">
            <a:extLst>
              <a:ext uri="{FF2B5EF4-FFF2-40B4-BE49-F238E27FC236}">
                <a16:creationId xmlns:a16="http://schemas.microsoft.com/office/drawing/2014/main" id="{52670B2E-2FDD-4F8D-8E6A-D10F5D082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322B8F-79A8-4F0D-AFAD-8ABC81580AA7}"/>
              </a:ext>
            </a:extLst>
          </p:cNvPr>
          <p:cNvSpPr>
            <a:spLocks noGrp="1"/>
          </p:cNvSpPr>
          <p:nvPr>
            <p:ph type="sldNum" sz="quarter" idx="12"/>
          </p:nvPr>
        </p:nvSpPr>
        <p:spPr/>
        <p:txBody>
          <a:bodyPr/>
          <a:lstStyle/>
          <a:p>
            <a:fld id="{331838FC-08FA-4194-B56F-C2E5870C8F6D}" type="slidenum">
              <a:rPr lang="en-US" smtClean="0"/>
              <a:t>‹#›</a:t>
            </a:fld>
            <a:endParaRPr lang="en-US"/>
          </a:p>
        </p:txBody>
      </p:sp>
    </p:spTree>
    <p:extLst>
      <p:ext uri="{BB962C8B-B14F-4D97-AF65-F5344CB8AC3E}">
        <p14:creationId xmlns:p14="http://schemas.microsoft.com/office/powerpoint/2010/main" val="1855351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E809D-6CFA-407A-9A55-E30267CCC9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3B3911-8F11-40EB-B793-7BACDC5672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2CA0B7-63BE-4A39-AF60-DC989EF156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F55BFB1-D517-4FF8-A3EB-3DAE5620B30E}"/>
              </a:ext>
            </a:extLst>
          </p:cNvPr>
          <p:cNvSpPr>
            <a:spLocks noGrp="1"/>
          </p:cNvSpPr>
          <p:nvPr>
            <p:ph type="dt" sz="half" idx="10"/>
          </p:nvPr>
        </p:nvSpPr>
        <p:spPr/>
        <p:txBody>
          <a:bodyPr/>
          <a:lstStyle/>
          <a:p>
            <a:fld id="{2EC29C88-9BBA-4004-98E1-D2A09C87577E}" type="datetimeFigureOut">
              <a:rPr lang="en-US" smtClean="0"/>
              <a:t>2/19/2026</a:t>
            </a:fld>
            <a:endParaRPr lang="en-US"/>
          </a:p>
        </p:txBody>
      </p:sp>
      <p:sp>
        <p:nvSpPr>
          <p:cNvPr id="6" name="Footer Placeholder 5">
            <a:extLst>
              <a:ext uri="{FF2B5EF4-FFF2-40B4-BE49-F238E27FC236}">
                <a16:creationId xmlns:a16="http://schemas.microsoft.com/office/drawing/2014/main" id="{A7F0FD66-4393-4A52-8EA8-833034DFAB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977CEB-505E-4AC6-A334-568594CA495C}"/>
              </a:ext>
            </a:extLst>
          </p:cNvPr>
          <p:cNvSpPr>
            <a:spLocks noGrp="1"/>
          </p:cNvSpPr>
          <p:nvPr>
            <p:ph type="sldNum" sz="quarter" idx="12"/>
          </p:nvPr>
        </p:nvSpPr>
        <p:spPr/>
        <p:txBody>
          <a:bodyPr/>
          <a:lstStyle/>
          <a:p>
            <a:fld id="{331838FC-08FA-4194-B56F-C2E5870C8F6D}" type="slidenum">
              <a:rPr lang="en-US" smtClean="0"/>
              <a:t>‹#›</a:t>
            </a:fld>
            <a:endParaRPr lang="en-US"/>
          </a:p>
        </p:txBody>
      </p:sp>
    </p:spTree>
    <p:extLst>
      <p:ext uri="{BB962C8B-B14F-4D97-AF65-F5344CB8AC3E}">
        <p14:creationId xmlns:p14="http://schemas.microsoft.com/office/powerpoint/2010/main" val="106754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28FCD-CE30-4224-88AB-CF3AB27FAF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C84191-B412-44CF-BA67-1D30EE2D7F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282B901-814A-49E9-A1D4-DC207E88D5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83428CC-AE7E-4A25-BF6B-F67C6D668549}"/>
              </a:ext>
            </a:extLst>
          </p:cNvPr>
          <p:cNvSpPr>
            <a:spLocks noGrp="1"/>
          </p:cNvSpPr>
          <p:nvPr>
            <p:ph type="dt" sz="half" idx="10"/>
          </p:nvPr>
        </p:nvSpPr>
        <p:spPr/>
        <p:txBody>
          <a:bodyPr/>
          <a:lstStyle/>
          <a:p>
            <a:fld id="{2EC29C88-9BBA-4004-98E1-D2A09C87577E}" type="datetimeFigureOut">
              <a:rPr lang="en-US" smtClean="0"/>
              <a:t>2/19/2026</a:t>
            </a:fld>
            <a:endParaRPr lang="en-US"/>
          </a:p>
        </p:txBody>
      </p:sp>
      <p:sp>
        <p:nvSpPr>
          <p:cNvPr id="6" name="Footer Placeholder 5">
            <a:extLst>
              <a:ext uri="{FF2B5EF4-FFF2-40B4-BE49-F238E27FC236}">
                <a16:creationId xmlns:a16="http://schemas.microsoft.com/office/drawing/2014/main" id="{3E5E45BC-B3CE-4893-B1EC-3D19A2C19C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14860D-F7F4-4613-B06E-8F116169E3E3}"/>
              </a:ext>
            </a:extLst>
          </p:cNvPr>
          <p:cNvSpPr>
            <a:spLocks noGrp="1"/>
          </p:cNvSpPr>
          <p:nvPr>
            <p:ph type="sldNum" sz="quarter" idx="12"/>
          </p:nvPr>
        </p:nvSpPr>
        <p:spPr/>
        <p:txBody>
          <a:bodyPr/>
          <a:lstStyle/>
          <a:p>
            <a:fld id="{331838FC-08FA-4194-B56F-C2E5870C8F6D}" type="slidenum">
              <a:rPr lang="en-US" smtClean="0"/>
              <a:t>‹#›</a:t>
            </a:fld>
            <a:endParaRPr lang="en-US"/>
          </a:p>
        </p:txBody>
      </p:sp>
    </p:spTree>
    <p:extLst>
      <p:ext uri="{BB962C8B-B14F-4D97-AF65-F5344CB8AC3E}">
        <p14:creationId xmlns:p14="http://schemas.microsoft.com/office/powerpoint/2010/main" val="2508129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8BA31-66C2-436F-BCBD-CCCA8AC79F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F945F4-88F4-4EE4-A15D-27EA321FF2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036F03-177D-4F43-91BD-421F178F7BDB}"/>
              </a:ext>
            </a:extLst>
          </p:cNvPr>
          <p:cNvSpPr>
            <a:spLocks noGrp="1"/>
          </p:cNvSpPr>
          <p:nvPr>
            <p:ph type="dt" sz="half" idx="10"/>
          </p:nvPr>
        </p:nvSpPr>
        <p:spPr/>
        <p:txBody>
          <a:bodyPr/>
          <a:lstStyle/>
          <a:p>
            <a:fld id="{2EC29C88-9BBA-4004-98E1-D2A09C87577E}" type="datetimeFigureOut">
              <a:rPr lang="en-US" smtClean="0"/>
              <a:t>2/19/2026</a:t>
            </a:fld>
            <a:endParaRPr lang="en-US"/>
          </a:p>
        </p:txBody>
      </p:sp>
      <p:sp>
        <p:nvSpPr>
          <p:cNvPr id="5" name="Footer Placeholder 4">
            <a:extLst>
              <a:ext uri="{FF2B5EF4-FFF2-40B4-BE49-F238E27FC236}">
                <a16:creationId xmlns:a16="http://schemas.microsoft.com/office/drawing/2014/main" id="{6E950F84-3C78-4454-9DFD-0F612D24F5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A04F03-A83B-46C1-A177-1C13804DF9CA}"/>
              </a:ext>
            </a:extLst>
          </p:cNvPr>
          <p:cNvSpPr>
            <a:spLocks noGrp="1"/>
          </p:cNvSpPr>
          <p:nvPr>
            <p:ph type="sldNum" sz="quarter" idx="12"/>
          </p:nvPr>
        </p:nvSpPr>
        <p:spPr/>
        <p:txBody>
          <a:bodyPr/>
          <a:lstStyle/>
          <a:p>
            <a:fld id="{331838FC-08FA-4194-B56F-C2E5870C8F6D}" type="slidenum">
              <a:rPr lang="en-US" smtClean="0"/>
              <a:t>‹#›</a:t>
            </a:fld>
            <a:endParaRPr lang="en-US"/>
          </a:p>
        </p:txBody>
      </p:sp>
    </p:spTree>
    <p:extLst>
      <p:ext uri="{BB962C8B-B14F-4D97-AF65-F5344CB8AC3E}">
        <p14:creationId xmlns:p14="http://schemas.microsoft.com/office/powerpoint/2010/main" val="1917995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F9F3A6-7E63-4300-BA51-76D13A1D0E0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AF453C-57D7-42CF-8A70-5AAC958A837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46092B-2BF3-4FD5-9A41-47378B0005EC}"/>
              </a:ext>
            </a:extLst>
          </p:cNvPr>
          <p:cNvSpPr>
            <a:spLocks noGrp="1"/>
          </p:cNvSpPr>
          <p:nvPr>
            <p:ph type="dt" sz="half" idx="10"/>
          </p:nvPr>
        </p:nvSpPr>
        <p:spPr/>
        <p:txBody>
          <a:bodyPr/>
          <a:lstStyle/>
          <a:p>
            <a:fld id="{2EC29C88-9BBA-4004-98E1-D2A09C87577E}" type="datetimeFigureOut">
              <a:rPr lang="en-US" smtClean="0"/>
              <a:t>2/19/2026</a:t>
            </a:fld>
            <a:endParaRPr lang="en-US"/>
          </a:p>
        </p:txBody>
      </p:sp>
      <p:sp>
        <p:nvSpPr>
          <p:cNvPr id="5" name="Footer Placeholder 4">
            <a:extLst>
              <a:ext uri="{FF2B5EF4-FFF2-40B4-BE49-F238E27FC236}">
                <a16:creationId xmlns:a16="http://schemas.microsoft.com/office/drawing/2014/main" id="{E45ACC1F-7A25-4E44-9106-03FB619EDB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8F626-1C85-4FA8-8D43-7B7D47EB6B4D}"/>
              </a:ext>
            </a:extLst>
          </p:cNvPr>
          <p:cNvSpPr>
            <a:spLocks noGrp="1"/>
          </p:cNvSpPr>
          <p:nvPr>
            <p:ph type="sldNum" sz="quarter" idx="12"/>
          </p:nvPr>
        </p:nvSpPr>
        <p:spPr/>
        <p:txBody>
          <a:bodyPr/>
          <a:lstStyle/>
          <a:p>
            <a:fld id="{331838FC-08FA-4194-B56F-C2E5870C8F6D}" type="slidenum">
              <a:rPr lang="en-US" smtClean="0"/>
              <a:t>‹#›</a:t>
            </a:fld>
            <a:endParaRPr lang="en-US"/>
          </a:p>
        </p:txBody>
      </p:sp>
    </p:spTree>
    <p:extLst>
      <p:ext uri="{BB962C8B-B14F-4D97-AF65-F5344CB8AC3E}">
        <p14:creationId xmlns:p14="http://schemas.microsoft.com/office/powerpoint/2010/main" val="1866633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6B5E96-CC17-4F3F-B03D-B48DAEAA3E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085ED4-E6CA-43CE-9F5E-6AEFC87586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D38556-6CC9-4005-89CD-258A80CD1B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C29C88-9BBA-4004-98E1-D2A09C87577E}" type="datetimeFigureOut">
              <a:rPr lang="en-US" smtClean="0"/>
              <a:t>2/19/2026</a:t>
            </a:fld>
            <a:endParaRPr lang="en-US"/>
          </a:p>
        </p:txBody>
      </p:sp>
      <p:sp>
        <p:nvSpPr>
          <p:cNvPr id="5" name="Footer Placeholder 4">
            <a:extLst>
              <a:ext uri="{FF2B5EF4-FFF2-40B4-BE49-F238E27FC236}">
                <a16:creationId xmlns:a16="http://schemas.microsoft.com/office/drawing/2014/main" id="{C525727B-DC45-443B-9D91-A1C37E1CFB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ABFBCAB-D609-4838-AC99-70A938354A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1838FC-08FA-4194-B56F-C2E5870C8F6D}" type="slidenum">
              <a:rPr lang="en-US" smtClean="0"/>
              <a:t>‹#›</a:t>
            </a:fld>
            <a:endParaRPr lang="en-US"/>
          </a:p>
        </p:txBody>
      </p:sp>
    </p:spTree>
    <p:extLst>
      <p:ext uri="{BB962C8B-B14F-4D97-AF65-F5344CB8AC3E}">
        <p14:creationId xmlns:p14="http://schemas.microsoft.com/office/powerpoint/2010/main" val="3877042250"/>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go.microsoft.com/fwlink/p/?LinkId=255141" TargetMode="Externa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97F9BD40-02FA-42D5-8318-6044CEFE410E}"/>
              </a:ext>
            </a:extLst>
          </p:cNvPr>
          <p:cNvSpPr/>
          <p:nvPr/>
        </p:nvSpPr>
        <p:spPr>
          <a:xfrm>
            <a:off x="573985" y="1941169"/>
            <a:ext cx="10102683" cy="3617426"/>
          </a:xfrm>
          <a:prstGeom prst="roundRect">
            <a:avLst>
              <a:gd name="adj" fmla="val 5590"/>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Rounded Corners 3">
            <a:extLst>
              <a:ext uri="{FF2B5EF4-FFF2-40B4-BE49-F238E27FC236}">
                <a16:creationId xmlns:a16="http://schemas.microsoft.com/office/drawing/2014/main" id="{1705E056-F333-45BA-8B1F-DC78A1E4FDAF}"/>
              </a:ext>
            </a:extLst>
          </p:cNvPr>
          <p:cNvSpPr/>
          <p:nvPr/>
        </p:nvSpPr>
        <p:spPr>
          <a:xfrm>
            <a:off x="573985" y="430741"/>
            <a:ext cx="9301299" cy="1225136"/>
          </a:xfrm>
          <a:prstGeom prst="roundRect">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F3DEBA-BF01-434C-BDF5-05A6CC0EBEE9}"/>
              </a:ext>
            </a:extLst>
          </p:cNvPr>
          <p:cNvSpPr>
            <a:spLocks noGrp="1"/>
          </p:cNvSpPr>
          <p:nvPr>
            <p:ph type="title"/>
          </p:nvPr>
        </p:nvSpPr>
        <p:spPr>
          <a:xfrm>
            <a:off x="838200" y="346075"/>
            <a:ext cx="10515600" cy="1325563"/>
          </a:xfrm>
        </p:spPr>
        <p:txBody>
          <a:bodyPr/>
          <a:lstStyle/>
          <a:p>
            <a:r>
              <a:rPr lang="en-US" dirty="0">
                <a:latin typeface="Arial Black" panose="020B0A04020102020204" pitchFamily="34" charset="0"/>
              </a:rPr>
              <a:t>SHOP IT STORE ANALYSIS</a:t>
            </a:r>
          </a:p>
        </p:txBody>
      </p:sp>
      <p:sp>
        <p:nvSpPr>
          <p:cNvPr id="6" name="TextBox 5">
            <a:extLst>
              <a:ext uri="{FF2B5EF4-FFF2-40B4-BE49-F238E27FC236}">
                <a16:creationId xmlns:a16="http://schemas.microsoft.com/office/drawing/2014/main" id="{479CDC90-F250-4EFC-84D5-0F519A68F533}"/>
              </a:ext>
            </a:extLst>
          </p:cNvPr>
          <p:cNvSpPr txBox="1"/>
          <p:nvPr/>
        </p:nvSpPr>
        <p:spPr>
          <a:xfrm>
            <a:off x="1362932" y="2595720"/>
            <a:ext cx="8908871" cy="2308324"/>
          </a:xfrm>
          <a:prstGeom prst="rect">
            <a:avLst/>
          </a:prstGeom>
          <a:noFill/>
        </p:spPr>
        <p:txBody>
          <a:bodyPr wrap="square" rtlCol="0">
            <a:spAutoFit/>
          </a:bodyPr>
          <a:lstStyle/>
          <a:p>
            <a:r>
              <a:rPr lang="en-US" sz="3600" dirty="0">
                <a:latin typeface="Arial Black" panose="020B0A04020102020204" pitchFamily="34" charset="0"/>
              </a:rPr>
              <a:t>Analyst: </a:t>
            </a:r>
            <a:r>
              <a:rPr lang="en-US" sz="3600" dirty="0" err="1">
                <a:latin typeface="Arial Black" panose="020B0A04020102020204" pitchFamily="34" charset="0"/>
              </a:rPr>
              <a:t>Musayayi</a:t>
            </a:r>
            <a:r>
              <a:rPr lang="en-US" sz="3600" dirty="0">
                <a:latin typeface="Arial Black" panose="020B0A04020102020204" pitchFamily="34" charset="0"/>
              </a:rPr>
              <a:t> </a:t>
            </a:r>
            <a:r>
              <a:rPr lang="en-US" sz="3600" dirty="0" err="1">
                <a:latin typeface="Arial Black" panose="020B0A04020102020204" pitchFamily="34" charset="0"/>
              </a:rPr>
              <a:t>Precious.I</a:t>
            </a:r>
            <a:endParaRPr lang="en-US" sz="3600" dirty="0">
              <a:latin typeface="Arial Black" panose="020B0A04020102020204" pitchFamily="34" charset="0"/>
            </a:endParaRPr>
          </a:p>
          <a:p>
            <a:r>
              <a:rPr lang="en-US" sz="3600" dirty="0">
                <a:latin typeface="Arial Black" panose="020B0A04020102020204" pitchFamily="34" charset="0"/>
              </a:rPr>
              <a:t>Tools: MS Excel</a:t>
            </a:r>
          </a:p>
          <a:p>
            <a:r>
              <a:rPr lang="en-US" sz="3600" dirty="0">
                <a:latin typeface="Arial Black" panose="020B0A04020102020204" pitchFamily="34" charset="0"/>
              </a:rPr>
              <a:t>Date: 18/02/2026</a:t>
            </a:r>
          </a:p>
          <a:p>
            <a:endParaRPr lang="en-US" sz="3600" dirty="0">
              <a:latin typeface="Arial Black" panose="020B0A04020102020204" pitchFamily="34" charset="0"/>
            </a:endParaRPr>
          </a:p>
        </p:txBody>
      </p:sp>
    </p:spTree>
    <p:extLst>
      <p:ext uri="{BB962C8B-B14F-4D97-AF65-F5344CB8AC3E}">
        <p14:creationId xmlns:p14="http://schemas.microsoft.com/office/powerpoint/2010/main" val="2281592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8A68B1C9-9D23-46C5-AEE0-8F53EA956C0E}"/>
              </a:ext>
            </a:extLst>
          </p:cNvPr>
          <p:cNvSpPr/>
          <p:nvPr/>
        </p:nvSpPr>
        <p:spPr>
          <a:xfrm>
            <a:off x="376956" y="1883184"/>
            <a:ext cx="11428051" cy="4188843"/>
          </a:xfrm>
          <a:prstGeom prst="roundRect">
            <a:avLst>
              <a:gd name="adj" fmla="val 2686"/>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34CEB8B6-F506-46E7-936D-A778475A851B}"/>
              </a:ext>
            </a:extLst>
          </p:cNvPr>
          <p:cNvSpPr/>
          <p:nvPr/>
        </p:nvSpPr>
        <p:spPr>
          <a:xfrm>
            <a:off x="376956" y="415338"/>
            <a:ext cx="9301299" cy="1225136"/>
          </a:xfrm>
          <a:prstGeom prst="roundRect">
            <a:avLst/>
          </a:prstGeom>
          <a:solidFill>
            <a:srgbClr val="6D280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674F4C-2ADC-4BCD-980A-17BB43421D39}"/>
              </a:ext>
            </a:extLst>
          </p:cNvPr>
          <p:cNvSpPr>
            <a:spLocks noGrp="1"/>
          </p:cNvSpPr>
          <p:nvPr>
            <p:ph type="title"/>
          </p:nvPr>
        </p:nvSpPr>
        <p:spPr>
          <a:xfrm>
            <a:off x="838200" y="324029"/>
            <a:ext cx="10515600" cy="1325563"/>
          </a:xfrm>
        </p:spPr>
        <p:txBody>
          <a:bodyPr/>
          <a:lstStyle/>
          <a:p>
            <a:r>
              <a:rPr lang="en-US" dirty="0"/>
              <a:t>Business Problem</a:t>
            </a:r>
          </a:p>
        </p:txBody>
      </p:sp>
      <p:sp>
        <p:nvSpPr>
          <p:cNvPr id="3" name="Content Placeholder 2">
            <a:extLst>
              <a:ext uri="{FF2B5EF4-FFF2-40B4-BE49-F238E27FC236}">
                <a16:creationId xmlns:a16="http://schemas.microsoft.com/office/drawing/2014/main" id="{48B401C8-1F5D-4048-92AB-100654138CC6}"/>
              </a:ext>
            </a:extLst>
          </p:cNvPr>
          <p:cNvSpPr>
            <a:spLocks noGrp="1"/>
          </p:cNvSpPr>
          <p:nvPr>
            <p:ph idx="1"/>
          </p:nvPr>
        </p:nvSpPr>
        <p:spPr>
          <a:xfrm>
            <a:off x="833181" y="2130923"/>
            <a:ext cx="10515600" cy="2032000"/>
          </a:xfrm>
        </p:spPr>
        <p:txBody>
          <a:bodyPr/>
          <a:lstStyle/>
          <a:p>
            <a:r>
              <a:rPr lang="en-US" b="1" dirty="0">
                <a:solidFill>
                  <a:schemeClr val="accent6">
                    <a:lumMod val="40000"/>
                    <a:lumOff val="60000"/>
                  </a:schemeClr>
                </a:solidFill>
              </a:rPr>
              <a:t>Shop It Store </a:t>
            </a:r>
            <a:r>
              <a:rPr lang="en-US" dirty="0"/>
              <a:t>is an online fashion store that sells fashion items worldwide across different platforms. The main problem is that the store has difficulty tracking user behavior and understanding how customers interact with its products.</a:t>
            </a:r>
          </a:p>
        </p:txBody>
      </p:sp>
      <p:sp>
        <p:nvSpPr>
          <p:cNvPr id="4" name="Content Placeholder 2">
            <a:extLst>
              <a:ext uri="{FF2B5EF4-FFF2-40B4-BE49-F238E27FC236}">
                <a16:creationId xmlns:a16="http://schemas.microsoft.com/office/drawing/2014/main" id="{72FBF9CD-1D76-446C-B81C-E3DE5DBD4EBF}"/>
              </a:ext>
            </a:extLst>
          </p:cNvPr>
          <p:cNvSpPr txBox="1">
            <a:spLocks/>
          </p:cNvSpPr>
          <p:nvPr/>
        </p:nvSpPr>
        <p:spPr>
          <a:xfrm>
            <a:off x="833181" y="4040027"/>
            <a:ext cx="10515600" cy="2032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goal is to analyze user behavior, product performance across different platforms, customer satisfaction levels, and to identify which product is the best seller.</a:t>
            </a:r>
          </a:p>
        </p:txBody>
      </p:sp>
      <p:pic>
        <p:nvPicPr>
          <p:cNvPr id="7" name="Graphic 6" descr="Question mark">
            <a:extLst>
              <a:ext uri="{FF2B5EF4-FFF2-40B4-BE49-F238E27FC236}">
                <a16:creationId xmlns:a16="http://schemas.microsoft.com/office/drawing/2014/main" id="{F6C995D9-4027-4B6B-9EDE-C101FA9A4A5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18230" y="256797"/>
            <a:ext cx="1460025" cy="1460025"/>
          </a:xfrm>
          <a:prstGeom prst="rect">
            <a:avLst/>
          </a:prstGeom>
        </p:spPr>
      </p:pic>
    </p:spTree>
    <p:extLst>
      <p:ext uri="{BB962C8B-B14F-4D97-AF65-F5344CB8AC3E}">
        <p14:creationId xmlns:p14="http://schemas.microsoft.com/office/powerpoint/2010/main" val="2258614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CD6465B-7E8F-4CD9-9ADB-8682E79A787B}"/>
              </a:ext>
            </a:extLst>
          </p:cNvPr>
          <p:cNvSpPr/>
          <p:nvPr/>
        </p:nvSpPr>
        <p:spPr>
          <a:xfrm>
            <a:off x="407778" y="1987284"/>
            <a:ext cx="9301299" cy="4249796"/>
          </a:xfrm>
          <a:prstGeom prst="roundRect">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521D76D4-AA75-4DD6-ABE5-4ED0AE761C92}"/>
              </a:ext>
            </a:extLst>
          </p:cNvPr>
          <p:cNvSpPr/>
          <p:nvPr/>
        </p:nvSpPr>
        <p:spPr>
          <a:xfrm>
            <a:off x="407779" y="465552"/>
            <a:ext cx="9301299" cy="1225136"/>
          </a:xfrm>
          <a:prstGeom prst="roundRect">
            <a:avLst/>
          </a:prstGeom>
          <a:solidFill>
            <a:srgbClr val="6D280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D68637-2C3C-4A8F-993E-F3D08C6EA128}"/>
              </a:ext>
            </a:extLst>
          </p:cNvPr>
          <p:cNvSpPr>
            <a:spLocks noGrp="1"/>
          </p:cNvSpPr>
          <p:nvPr>
            <p:ph type="title"/>
          </p:nvPr>
        </p:nvSpPr>
        <p:spPr/>
        <p:txBody>
          <a:bodyPr/>
          <a:lstStyle/>
          <a:p>
            <a:r>
              <a:rPr lang="en-US" dirty="0"/>
              <a:t>Data Overview</a:t>
            </a:r>
          </a:p>
        </p:txBody>
      </p:sp>
      <p:sp>
        <p:nvSpPr>
          <p:cNvPr id="3" name="Content Placeholder 2">
            <a:extLst>
              <a:ext uri="{FF2B5EF4-FFF2-40B4-BE49-F238E27FC236}">
                <a16:creationId xmlns:a16="http://schemas.microsoft.com/office/drawing/2014/main" id="{8F556485-E4FD-4B9E-B953-958094633084}"/>
              </a:ext>
            </a:extLst>
          </p:cNvPr>
          <p:cNvSpPr>
            <a:spLocks noGrp="1"/>
          </p:cNvSpPr>
          <p:nvPr>
            <p:ph idx="1"/>
          </p:nvPr>
        </p:nvSpPr>
        <p:spPr>
          <a:xfrm>
            <a:off x="622443" y="2378085"/>
            <a:ext cx="8997807" cy="2908290"/>
          </a:xfrm>
        </p:spPr>
        <p:txBody>
          <a:bodyPr>
            <a:normAutofit/>
          </a:bodyPr>
          <a:lstStyle/>
          <a:p>
            <a:r>
              <a:rPr lang="en-US" dirty="0"/>
              <a:t>Data source: </a:t>
            </a:r>
            <a:r>
              <a:rPr lang="en-US" dirty="0">
                <a:hlinkClick r:id="rId2" tooltip="Link"/>
              </a:rPr>
              <a:t>https://chandoo.org/wp/wp-content/uploads/2025/11/ecommerce-blank.xlsx </a:t>
            </a:r>
            <a:endParaRPr lang="en-US" dirty="0"/>
          </a:p>
          <a:p>
            <a:pPr marL="0" indent="0">
              <a:buNone/>
            </a:pPr>
            <a:endParaRPr lang="en-US" dirty="0"/>
          </a:p>
          <a:p>
            <a:r>
              <a:rPr lang="en-US" dirty="0"/>
              <a:t>It includes variable such as TX id, Product, Quantity, Unit price, Order date, ship date, customer gender, order mode, Rating, state, country, days to deliver, </a:t>
            </a:r>
            <a:r>
              <a:rPr lang="en-US" dirty="0" err="1"/>
              <a:t>Weeknum</a:t>
            </a:r>
            <a:r>
              <a:rPr lang="en-US" dirty="0"/>
              <a:t>.</a:t>
            </a:r>
          </a:p>
          <a:p>
            <a:endParaRPr lang="en-US" dirty="0"/>
          </a:p>
        </p:txBody>
      </p:sp>
      <p:pic>
        <p:nvPicPr>
          <p:cNvPr id="7" name="Graphic 6" descr="Database">
            <a:extLst>
              <a:ext uri="{FF2B5EF4-FFF2-40B4-BE49-F238E27FC236}">
                <a16:creationId xmlns:a16="http://schemas.microsoft.com/office/drawing/2014/main" id="{DCE23569-1B71-4C15-B734-9AC275D0FE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95016" y="620920"/>
            <a:ext cx="914400" cy="914400"/>
          </a:xfrm>
          <a:prstGeom prst="rect">
            <a:avLst/>
          </a:prstGeom>
        </p:spPr>
      </p:pic>
    </p:spTree>
    <p:extLst>
      <p:ext uri="{BB962C8B-B14F-4D97-AF65-F5344CB8AC3E}">
        <p14:creationId xmlns:p14="http://schemas.microsoft.com/office/powerpoint/2010/main" val="1334606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7AF64709-BE65-4EFC-95D4-970CDD658F94}"/>
              </a:ext>
            </a:extLst>
          </p:cNvPr>
          <p:cNvSpPr/>
          <p:nvPr/>
        </p:nvSpPr>
        <p:spPr>
          <a:xfrm>
            <a:off x="335860" y="1842488"/>
            <a:ext cx="11315034" cy="4444806"/>
          </a:xfrm>
          <a:prstGeom prst="roundRect">
            <a:avLst>
              <a:gd name="adj" fmla="val 3954"/>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A1D177F3-04AA-4967-BA66-D432386B917B}"/>
              </a:ext>
            </a:extLst>
          </p:cNvPr>
          <p:cNvSpPr/>
          <p:nvPr/>
        </p:nvSpPr>
        <p:spPr>
          <a:xfrm>
            <a:off x="335860" y="415338"/>
            <a:ext cx="9301299" cy="1225136"/>
          </a:xfrm>
          <a:prstGeom prst="roundRect">
            <a:avLst/>
          </a:prstGeom>
          <a:solidFill>
            <a:srgbClr val="6D280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23195F-E848-4FC7-977B-E0FD152CD4EC}"/>
              </a:ext>
            </a:extLst>
          </p:cNvPr>
          <p:cNvSpPr>
            <a:spLocks noGrp="1"/>
          </p:cNvSpPr>
          <p:nvPr>
            <p:ph type="title"/>
          </p:nvPr>
        </p:nvSpPr>
        <p:spPr/>
        <p:txBody>
          <a:bodyPr/>
          <a:lstStyle/>
          <a:p>
            <a:r>
              <a:rPr lang="en-US" dirty="0"/>
              <a:t>Key findings</a:t>
            </a:r>
          </a:p>
        </p:txBody>
      </p:sp>
      <p:sp>
        <p:nvSpPr>
          <p:cNvPr id="3" name="Content Placeholder 2">
            <a:extLst>
              <a:ext uri="{FF2B5EF4-FFF2-40B4-BE49-F238E27FC236}">
                <a16:creationId xmlns:a16="http://schemas.microsoft.com/office/drawing/2014/main" id="{622BAA5A-3685-4FB3-9803-2162BBC215A6}"/>
              </a:ext>
            </a:extLst>
          </p:cNvPr>
          <p:cNvSpPr>
            <a:spLocks noGrp="1"/>
          </p:cNvSpPr>
          <p:nvPr>
            <p:ph idx="1"/>
          </p:nvPr>
        </p:nvSpPr>
        <p:spPr>
          <a:xfrm>
            <a:off x="541106" y="2125537"/>
            <a:ext cx="10986498" cy="3967038"/>
          </a:xfrm>
        </p:spPr>
        <p:txBody>
          <a:bodyPr>
            <a:normAutofit fontScale="77500" lnSpcReduction="20000"/>
          </a:bodyPr>
          <a:lstStyle/>
          <a:p>
            <a:r>
              <a:rPr lang="en-US" dirty="0"/>
              <a:t>The store recorded a total of </a:t>
            </a:r>
            <a:r>
              <a:rPr lang="en-US" b="1" dirty="0">
                <a:solidFill>
                  <a:schemeClr val="accent6">
                    <a:lumMod val="40000"/>
                    <a:lumOff val="60000"/>
                  </a:schemeClr>
                </a:solidFill>
              </a:rPr>
              <a:t>2,400</a:t>
            </a:r>
            <a:r>
              <a:rPr lang="en-US" dirty="0"/>
              <a:t> orders within three months (January–March).</a:t>
            </a:r>
          </a:p>
          <a:p>
            <a:endParaRPr lang="en-US" dirty="0"/>
          </a:p>
          <a:p>
            <a:r>
              <a:rPr lang="en-US" dirty="0"/>
              <a:t>Customers gave an average rating of </a:t>
            </a:r>
            <a:r>
              <a:rPr lang="en-US" b="1" dirty="0">
                <a:solidFill>
                  <a:schemeClr val="accent6">
                    <a:lumMod val="40000"/>
                    <a:lumOff val="60000"/>
                  </a:schemeClr>
                </a:solidFill>
              </a:rPr>
              <a:t>4.0</a:t>
            </a:r>
            <a:r>
              <a:rPr lang="en-US" dirty="0"/>
              <a:t>, and the average delivery time for products is </a:t>
            </a:r>
            <a:r>
              <a:rPr lang="en-US" b="1" dirty="0">
                <a:solidFill>
                  <a:schemeClr val="accent6">
                    <a:lumMod val="40000"/>
                    <a:lumOff val="60000"/>
                  </a:schemeClr>
                </a:solidFill>
              </a:rPr>
              <a:t>2 days</a:t>
            </a:r>
            <a:r>
              <a:rPr lang="en-US" dirty="0"/>
              <a:t>.</a:t>
            </a:r>
          </a:p>
          <a:p>
            <a:endParaRPr lang="en-US" dirty="0"/>
          </a:p>
          <a:p>
            <a:r>
              <a:rPr lang="en-US" dirty="0"/>
              <a:t>The total sales generated across different platforms within the three month period amounted to </a:t>
            </a:r>
            <a:r>
              <a:rPr lang="en-US" b="1" dirty="0">
                <a:solidFill>
                  <a:schemeClr val="accent6">
                    <a:lumMod val="40000"/>
                    <a:lumOff val="60000"/>
                  </a:schemeClr>
                </a:solidFill>
              </a:rPr>
              <a:t>$649,020 </a:t>
            </a:r>
            <a:r>
              <a:rPr lang="en-US" dirty="0"/>
              <a:t>, with the app recording the highest sales of </a:t>
            </a:r>
            <a:r>
              <a:rPr lang="en-US" b="1" dirty="0">
                <a:solidFill>
                  <a:schemeClr val="accent6">
                    <a:lumMod val="40000"/>
                    <a:lumOff val="60000"/>
                  </a:schemeClr>
                </a:solidFill>
              </a:rPr>
              <a:t>$229,394</a:t>
            </a:r>
            <a:r>
              <a:rPr lang="en-US" dirty="0"/>
              <a:t>.</a:t>
            </a:r>
          </a:p>
          <a:p>
            <a:pPr marL="0" indent="0">
              <a:buNone/>
            </a:pPr>
            <a:endParaRPr lang="en-US" dirty="0"/>
          </a:p>
          <a:p>
            <a:r>
              <a:rPr lang="en-US" dirty="0"/>
              <a:t>A total of </a:t>
            </a:r>
            <a:r>
              <a:rPr lang="en-US" b="1" dirty="0">
                <a:solidFill>
                  <a:schemeClr val="accent6">
                    <a:lumMod val="40000"/>
                    <a:lumOff val="60000"/>
                  </a:schemeClr>
                </a:solidFill>
              </a:rPr>
              <a:t>11,997</a:t>
            </a:r>
            <a:r>
              <a:rPr lang="en-US" dirty="0"/>
              <a:t> items were sold across all platforms, and the app had the highest quantity sold, with </a:t>
            </a:r>
            <a:r>
              <a:rPr lang="en-US" b="1" dirty="0">
                <a:solidFill>
                  <a:schemeClr val="accent6">
                    <a:lumMod val="40000"/>
                    <a:lumOff val="60000"/>
                  </a:schemeClr>
                </a:solidFill>
              </a:rPr>
              <a:t>4,220</a:t>
            </a:r>
            <a:r>
              <a:rPr lang="en-US" dirty="0"/>
              <a:t> items.</a:t>
            </a:r>
          </a:p>
          <a:p>
            <a:endParaRPr lang="en-US" dirty="0"/>
          </a:p>
          <a:p>
            <a:r>
              <a:rPr lang="en-US" dirty="0"/>
              <a:t>Regarding customer demographics, </a:t>
            </a:r>
            <a:r>
              <a:rPr lang="en-US" b="1" dirty="0">
                <a:solidFill>
                  <a:schemeClr val="accent6">
                    <a:lumMod val="40000"/>
                    <a:lumOff val="60000"/>
                  </a:schemeClr>
                </a:solidFill>
              </a:rPr>
              <a:t>55% </a:t>
            </a:r>
            <a:r>
              <a:rPr lang="en-US" dirty="0"/>
              <a:t>of customers are female, </a:t>
            </a:r>
            <a:r>
              <a:rPr lang="en-US" b="1" dirty="0">
                <a:solidFill>
                  <a:schemeClr val="accent6">
                    <a:lumMod val="40000"/>
                    <a:lumOff val="60000"/>
                  </a:schemeClr>
                </a:solidFill>
              </a:rPr>
              <a:t>39% </a:t>
            </a:r>
            <a:r>
              <a:rPr lang="en-US" dirty="0"/>
              <a:t>are male, while </a:t>
            </a:r>
            <a:r>
              <a:rPr lang="en-US" b="1" dirty="0">
                <a:solidFill>
                  <a:schemeClr val="accent6">
                    <a:lumMod val="40000"/>
                    <a:lumOff val="60000"/>
                  </a:schemeClr>
                </a:solidFill>
              </a:rPr>
              <a:t>9%</a:t>
            </a:r>
            <a:r>
              <a:rPr lang="en-US" dirty="0"/>
              <a:t> did not specify their gender.</a:t>
            </a:r>
          </a:p>
        </p:txBody>
      </p:sp>
      <p:pic>
        <p:nvPicPr>
          <p:cNvPr id="6" name="Graphic 5" descr="Research">
            <a:extLst>
              <a:ext uri="{FF2B5EF4-FFF2-40B4-BE49-F238E27FC236}">
                <a16:creationId xmlns:a16="http://schemas.microsoft.com/office/drawing/2014/main" id="{37EAF41D-CF6B-49CE-BC98-11A269F901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48436" y="570706"/>
            <a:ext cx="914400" cy="914400"/>
          </a:xfrm>
          <a:prstGeom prst="rect">
            <a:avLst/>
          </a:prstGeom>
        </p:spPr>
      </p:pic>
    </p:spTree>
    <p:extLst>
      <p:ext uri="{BB962C8B-B14F-4D97-AF65-F5344CB8AC3E}">
        <p14:creationId xmlns:p14="http://schemas.microsoft.com/office/powerpoint/2010/main" val="2447605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FF78E89-9D3F-4F4D-89DD-0216E1064D03}"/>
              </a:ext>
            </a:extLst>
          </p:cNvPr>
          <p:cNvSpPr/>
          <p:nvPr/>
        </p:nvSpPr>
        <p:spPr>
          <a:xfrm>
            <a:off x="145705" y="1668785"/>
            <a:ext cx="5760141" cy="4932474"/>
          </a:xfrm>
          <a:prstGeom prst="roundRect">
            <a:avLst>
              <a:gd name="adj" fmla="val 3336"/>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534AA7F4-CA9F-4207-83AE-C5772432721A}"/>
              </a:ext>
            </a:extLst>
          </p:cNvPr>
          <p:cNvSpPr/>
          <p:nvPr/>
        </p:nvSpPr>
        <p:spPr>
          <a:xfrm>
            <a:off x="135836" y="170260"/>
            <a:ext cx="5760140" cy="1225136"/>
          </a:xfrm>
          <a:prstGeom prst="roundRect">
            <a:avLst/>
          </a:prstGeom>
          <a:solidFill>
            <a:srgbClr val="6D280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A6D3BD-B4E9-44CE-B61F-906E248A7757}"/>
              </a:ext>
            </a:extLst>
          </p:cNvPr>
          <p:cNvSpPr>
            <a:spLocks noGrp="1"/>
          </p:cNvSpPr>
          <p:nvPr>
            <p:ph type="title"/>
          </p:nvPr>
        </p:nvSpPr>
        <p:spPr>
          <a:xfrm>
            <a:off x="503415" y="102629"/>
            <a:ext cx="4576281" cy="1325563"/>
          </a:xfrm>
        </p:spPr>
        <p:txBody>
          <a:bodyPr/>
          <a:lstStyle/>
          <a:p>
            <a:r>
              <a:rPr lang="en-US" dirty="0"/>
              <a:t>Key Findings</a:t>
            </a:r>
          </a:p>
        </p:txBody>
      </p:sp>
      <p:pic>
        <p:nvPicPr>
          <p:cNvPr id="4" name="Content Placeholder 3">
            <a:extLst>
              <a:ext uri="{FF2B5EF4-FFF2-40B4-BE49-F238E27FC236}">
                <a16:creationId xmlns:a16="http://schemas.microsoft.com/office/drawing/2014/main" id="{94923CFE-F606-4156-B357-07A7448C1760}"/>
              </a:ext>
            </a:extLst>
          </p:cNvPr>
          <p:cNvPicPr>
            <a:picLocks noGrp="1" noChangeAspect="1"/>
          </p:cNvPicPr>
          <p:nvPr>
            <p:ph idx="1"/>
          </p:nvPr>
        </p:nvPicPr>
        <p:blipFill>
          <a:blip r:embed="rId2"/>
          <a:stretch>
            <a:fillRect/>
          </a:stretch>
        </p:blipFill>
        <p:spPr>
          <a:xfrm>
            <a:off x="6296025" y="279400"/>
            <a:ext cx="5823033" cy="6483350"/>
          </a:xfrm>
          <a:prstGeom prst="rect">
            <a:avLst/>
          </a:prstGeom>
        </p:spPr>
      </p:pic>
      <p:sp>
        <p:nvSpPr>
          <p:cNvPr id="5" name="Title 1">
            <a:extLst>
              <a:ext uri="{FF2B5EF4-FFF2-40B4-BE49-F238E27FC236}">
                <a16:creationId xmlns:a16="http://schemas.microsoft.com/office/drawing/2014/main" id="{B362CC6F-829E-462C-B5D9-8D2C9206BFBB}"/>
              </a:ext>
            </a:extLst>
          </p:cNvPr>
          <p:cNvSpPr txBox="1">
            <a:spLocks/>
          </p:cNvSpPr>
          <p:nvPr/>
        </p:nvSpPr>
        <p:spPr>
          <a:xfrm>
            <a:off x="223569" y="1855693"/>
            <a:ext cx="5672407" cy="4556974"/>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chemeClr val="accent6">
                    <a:lumMod val="40000"/>
                    <a:lumOff val="60000"/>
                  </a:schemeClr>
                </a:solidFill>
                <a:latin typeface="+mn-lt"/>
              </a:rPr>
              <a:t>Week 10 </a:t>
            </a:r>
            <a:r>
              <a:rPr lang="en-US" sz="2400" dirty="0">
                <a:latin typeface="+mn-lt"/>
              </a:rPr>
              <a:t>recorded the highest sales, totaling </a:t>
            </a:r>
            <a:r>
              <a:rPr lang="en-US" sz="2400" b="1" dirty="0">
                <a:solidFill>
                  <a:schemeClr val="accent6">
                    <a:lumMod val="40000"/>
                    <a:lumOff val="60000"/>
                  </a:schemeClr>
                </a:solidFill>
                <a:latin typeface="+mn-lt"/>
              </a:rPr>
              <a:t>$64,915.70</a:t>
            </a:r>
            <a:r>
              <a:rPr lang="en-US" sz="2400" dirty="0">
                <a:latin typeface="+mn-lt"/>
              </a:rPr>
              <a:t>, while Week 1 had the lowest sales at </a:t>
            </a:r>
            <a:r>
              <a:rPr lang="en-US" sz="2400" b="1" dirty="0">
                <a:solidFill>
                  <a:schemeClr val="accent6">
                    <a:lumMod val="40000"/>
                    <a:lumOff val="60000"/>
                  </a:schemeClr>
                </a:solidFill>
                <a:latin typeface="+mn-lt"/>
              </a:rPr>
              <a:t>$32,413.30</a:t>
            </a:r>
            <a:r>
              <a:rPr lang="en-US" sz="2400" dirty="0">
                <a:latin typeface="+mn-lt"/>
              </a:rPr>
              <a:t>.</a:t>
            </a:r>
          </a:p>
          <a:p>
            <a:endParaRPr lang="en-US" sz="2400" dirty="0">
              <a:latin typeface="+mn-lt"/>
            </a:endParaRPr>
          </a:p>
          <a:p>
            <a:r>
              <a:rPr lang="en-US" sz="2400" dirty="0">
                <a:latin typeface="+mn-lt"/>
              </a:rPr>
              <a:t>In terms of quantity sold, </a:t>
            </a:r>
            <a:r>
              <a:rPr lang="en-US" sz="2400" b="1" dirty="0">
                <a:solidFill>
                  <a:schemeClr val="accent6">
                    <a:lumMod val="40000"/>
                    <a:lumOff val="60000"/>
                  </a:schemeClr>
                </a:solidFill>
                <a:latin typeface="+mn-lt"/>
              </a:rPr>
              <a:t>Week 6 </a:t>
            </a:r>
            <a:r>
              <a:rPr lang="en-US" sz="2400" dirty="0">
                <a:latin typeface="+mn-lt"/>
              </a:rPr>
              <a:t>had the highest number of items sold (</a:t>
            </a:r>
            <a:r>
              <a:rPr lang="en-US" sz="2400" b="1" dirty="0">
                <a:solidFill>
                  <a:schemeClr val="accent6">
                    <a:lumMod val="40000"/>
                    <a:lumOff val="60000"/>
                  </a:schemeClr>
                </a:solidFill>
                <a:latin typeface="+mn-lt"/>
              </a:rPr>
              <a:t>1,202 units</a:t>
            </a:r>
            <a:r>
              <a:rPr lang="en-US" sz="2400" dirty="0">
                <a:latin typeface="+mn-lt"/>
              </a:rPr>
              <a:t>), whereas Week 1 recorded the lowest quantity (</a:t>
            </a:r>
            <a:r>
              <a:rPr lang="en-US" sz="2400" b="1" dirty="0">
                <a:solidFill>
                  <a:schemeClr val="accent6">
                    <a:lumMod val="40000"/>
                    <a:lumOff val="60000"/>
                  </a:schemeClr>
                </a:solidFill>
                <a:latin typeface="+mn-lt"/>
              </a:rPr>
              <a:t>546 units</a:t>
            </a:r>
            <a:r>
              <a:rPr lang="en-US" sz="2400" dirty="0">
                <a:latin typeface="+mn-lt"/>
              </a:rPr>
              <a:t>).</a:t>
            </a:r>
          </a:p>
          <a:p>
            <a:endParaRPr lang="en-US" sz="2400" dirty="0">
              <a:latin typeface="+mn-lt"/>
            </a:endParaRPr>
          </a:p>
          <a:p>
            <a:r>
              <a:rPr lang="en-US" sz="2400" dirty="0">
                <a:latin typeface="+mn-lt"/>
              </a:rPr>
              <a:t>Female customers tended to shop more in </a:t>
            </a:r>
            <a:r>
              <a:rPr lang="en-US" sz="2400" b="1" dirty="0">
                <a:solidFill>
                  <a:schemeClr val="accent6">
                    <a:lumMod val="40000"/>
                    <a:lumOff val="60000"/>
                  </a:schemeClr>
                </a:solidFill>
                <a:latin typeface="+mn-lt"/>
              </a:rPr>
              <a:t>Week 6</a:t>
            </a:r>
            <a:r>
              <a:rPr lang="en-US" sz="2400" dirty="0">
                <a:latin typeface="+mn-lt"/>
              </a:rPr>
              <a:t>, generating sales of </a:t>
            </a:r>
            <a:r>
              <a:rPr lang="en-US" sz="2400" b="1" dirty="0">
                <a:solidFill>
                  <a:schemeClr val="accent6">
                    <a:lumMod val="40000"/>
                    <a:lumOff val="60000"/>
                  </a:schemeClr>
                </a:solidFill>
                <a:latin typeface="+mn-lt"/>
              </a:rPr>
              <a:t>$39,327.40 </a:t>
            </a:r>
            <a:r>
              <a:rPr lang="en-US" sz="2400" dirty="0">
                <a:latin typeface="+mn-lt"/>
              </a:rPr>
              <a:t>and purchasing a total quantity of </a:t>
            </a:r>
            <a:r>
              <a:rPr lang="en-US" sz="2400" b="1" dirty="0">
                <a:solidFill>
                  <a:schemeClr val="accent6">
                    <a:lumMod val="40000"/>
                    <a:lumOff val="60000"/>
                  </a:schemeClr>
                </a:solidFill>
                <a:latin typeface="+mn-lt"/>
              </a:rPr>
              <a:t>725 items</a:t>
            </a:r>
            <a:r>
              <a:rPr lang="en-US" sz="2400" dirty="0">
                <a:latin typeface="+mn-lt"/>
              </a:rPr>
              <a:t>. Male customers showed higher purchasing activity in </a:t>
            </a:r>
            <a:r>
              <a:rPr lang="en-US" sz="2400" b="1" dirty="0">
                <a:solidFill>
                  <a:schemeClr val="accent6">
                    <a:lumMod val="40000"/>
                    <a:lumOff val="60000"/>
                  </a:schemeClr>
                </a:solidFill>
                <a:latin typeface="+mn-lt"/>
              </a:rPr>
              <a:t>Week 8</a:t>
            </a:r>
            <a:r>
              <a:rPr lang="en-US" sz="2400" dirty="0">
                <a:latin typeface="+mn-lt"/>
              </a:rPr>
              <a:t>.</a:t>
            </a:r>
          </a:p>
          <a:p>
            <a:endParaRPr lang="en-US" sz="2400" dirty="0">
              <a:latin typeface="+mn-lt"/>
            </a:endParaRPr>
          </a:p>
          <a:p>
            <a:r>
              <a:rPr lang="en-US" sz="2400" dirty="0">
                <a:latin typeface="+mn-lt"/>
              </a:rPr>
              <a:t>Customers identified as other or unspecified genders recorded their highest sales in </a:t>
            </a:r>
            <a:r>
              <a:rPr lang="en-US" sz="2400" b="1" dirty="0">
                <a:solidFill>
                  <a:schemeClr val="accent6">
                    <a:lumMod val="40000"/>
                    <a:lumOff val="60000"/>
                  </a:schemeClr>
                </a:solidFill>
                <a:latin typeface="+mn-lt"/>
              </a:rPr>
              <a:t>Week 10</a:t>
            </a:r>
            <a:r>
              <a:rPr lang="en-US" sz="2400" dirty="0">
                <a:latin typeface="+mn-lt"/>
              </a:rPr>
              <a:t>, with total sales of $11,969 and a quantity of </a:t>
            </a:r>
            <a:r>
              <a:rPr lang="en-US" sz="2400" b="1" dirty="0">
                <a:solidFill>
                  <a:schemeClr val="accent6">
                    <a:lumMod val="40000"/>
                    <a:lumOff val="60000"/>
                  </a:schemeClr>
                </a:solidFill>
                <a:latin typeface="+mn-lt"/>
              </a:rPr>
              <a:t>164 items </a:t>
            </a:r>
            <a:r>
              <a:rPr lang="en-US" sz="2400" dirty="0">
                <a:latin typeface="+mn-lt"/>
              </a:rPr>
              <a:t>sold.</a:t>
            </a:r>
          </a:p>
        </p:txBody>
      </p:sp>
      <p:pic>
        <p:nvPicPr>
          <p:cNvPr id="8" name="Graphic 7" descr="Upward trend">
            <a:extLst>
              <a:ext uri="{FF2B5EF4-FFF2-40B4-BE49-F238E27FC236}">
                <a16:creationId xmlns:a16="http://schemas.microsoft.com/office/drawing/2014/main" id="{689EC65A-30D7-4D2F-B5F7-4F43EE43810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95769" y="361949"/>
            <a:ext cx="914400" cy="914400"/>
          </a:xfrm>
          <a:prstGeom prst="rect">
            <a:avLst/>
          </a:prstGeom>
        </p:spPr>
      </p:pic>
    </p:spTree>
    <p:extLst>
      <p:ext uri="{BB962C8B-B14F-4D97-AF65-F5344CB8AC3E}">
        <p14:creationId xmlns:p14="http://schemas.microsoft.com/office/powerpoint/2010/main" val="3945232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F773E6D-7AE8-4CD5-82DE-BCEC3623F38A}"/>
              </a:ext>
            </a:extLst>
          </p:cNvPr>
          <p:cNvSpPr/>
          <p:nvPr/>
        </p:nvSpPr>
        <p:spPr>
          <a:xfrm>
            <a:off x="168191" y="1650413"/>
            <a:ext cx="5349031" cy="5040165"/>
          </a:xfrm>
          <a:prstGeom prst="roundRect">
            <a:avLst>
              <a:gd name="adj" fmla="val 4153"/>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57F77423-A99B-4224-B2E9-32233BF1DB8C}"/>
              </a:ext>
            </a:extLst>
          </p:cNvPr>
          <p:cNvSpPr/>
          <p:nvPr/>
        </p:nvSpPr>
        <p:spPr>
          <a:xfrm>
            <a:off x="168191" y="267128"/>
            <a:ext cx="5349031" cy="1225136"/>
          </a:xfrm>
          <a:prstGeom prst="roundRect">
            <a:avLst/>
          </a:prstGeom>
          <a:solidFill>
            <a:srgbClr val="6D280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F50D67-999C-49AB-A150-46A659E2D1D2}"/>
              </a:ext>
            </a:extLst>
          </p:cNvPr>
          <p:cNvSpPr>
            <a:spLocks noGrp="1"/>
          </p:cNvSpPr>
          <p:nvPr>
            <p:ph type="title"/>
          </p:nvPr>
        </p:nvSpPr>
        <p:spPr>
          <a:xfrm>
            <a:off x="622443" y="216914"/>
            <a:ext cx="3898186" cy="1325563"/>
          </a:xfrm>
        </p:spPr>
        <p:txBody>
          <a:bodyPr/>
          <a:lstStyle/>
          <a:p>
            <a:r>
              <a:rPr lang="en-US" dirty="0"/>
              <a:t>Key Findings</a:t>
            </a:r>
          </a:p>
        </p:txBody>
      </p:sp>
      <p:pic>
        <p:nvPicPr>
          <p:cNvPr id="4" name="Content Placeholder 3">
            <a:extLst>
              <a:ext uri="{FF2B5EF4-FFF2-40B4-BE49-F238E27FC236}">
                <a16:creationId xmlns:a16="http://schemas.microsoft.com/office/drawing/2014/main" id="{C9ECEA07-2851-4515-B7C4-842867AB80EC}"/>
              </a:ext>
            </a:extLst>
          </p:cNvPr>
          <p:cNvPicPr>
            <a:picLocks noGrp="1" noChangeAspect="1"/>
          </p:cNvPicPr>
          <p:nvPr>
            <p:ph idx="1"/>
          </p:nvPr>
        </p:nvPicPr>
        <p:blipFill>
          <a:blip r:embed="rId2"/>
          <a:stretch>
            <a:fillRect/>
          </a:stretch>
        </p:blipFill>
        <p:spPr>
          <a:xfrm>
            <a:off x="5710877" y="267128"/>
            <a:ext cx="6312932" cy="6423451"/>
          </a:xfrm>
          <a:prstGeom prst="rect">
            <a:avLst/>
          </a:prstGeom>
        </p:spPr>
      </p:pic>
      <p:sp>
        <p:nvSpPr>
          <p:cNvPr id="5" name="Title 1">
            <a:extLst>
              <a:ext uri="{FF2B5EF4-FFF2-40B4-BE49-F238E27FC236}">
                <a16:creationId xmlns:a16="http://schemas.microsoft.com/office/drawing/2014/main" id="{CF71AC9F-9676-455B-85E1-BE5DF7A51CCF}"/>
              </a:ext>
            </a:extLst>
          </p:cNvPr>
          <p:cNvSpPr txBox="1">
            <a:spLocks/>
          </p:cNvSpPr>
          <p:nvPr/>
        </p:nvSpPr>
        <p:spPr>
          <a:xfrm>
            <a:off x="168191" y="1600200"/>
            <a:ext cx="5349030" cy="52578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mn-lt"/>
              </a:rPr>
              <a:t>T-shirts, sneakers and bikinis are the top items that are sold.</a:t>
            </a:r>
          </a:p>
          <a:p>
            <a:r>
              <a:rPr lang="en-US" sz="2000" dirty="0">
                <a:latin typeface="+mn-lt"/>
              </a:rPr>
              <a:t> </a:t>
            </a:r>
          </a:p>
          <a:p>
            <a:r>
              <a:rPr lang="en-US" sz="2000" dirty="0">
                <a:latin typeface="+mn-lt"/>
              </a:rPr>
              <a:t>The highest item bought by females are T-shirt, sneakers and bikini of </a:t>
            </a:r>
            <a:r>
              <a:rPr lang="en-US" sz="2000" b="1" dirty="0">
                <a:solidFill>
                  <a:schemeClr val="accent6">
                    <a:lumMod val="40000"/>
                    <a:lumOff val="60000"/>
                  </a:schemeClr>
                </a:solidFill>
                <a:latin typeface="+mn-lt"/>
              </a:rPr>
              <a:t>744, 761, 627 </a:t>
            </a:r>
            <a:r>
              <a:rPr lang="en-US" sz="2000" dirty="0">
                <a:latin typeface="+mn-lt"/>
              </a:rPr>
              <a:t>respectively and the least is baseball cap</a:t>
            </a:r>
          </a:p>
          <a:p>
            <a:endParaRPr lang="en-US" sz="2000" dirty="0">
              <a:latin typeface="+mn-lt"/>
            </a:endParaRPr>
          </a:p>
          <a:p>
            <a:r>
              <a:rPr lang="en-US" sz="2000" dirty="0">
                <a:latin typeface="+mn-lt"/>
              </a:rPr>
              <a:t>And the highest item bought by male are T-shirt, sneakers and tank top </a:t>
            </a:r>
            <a:r>
              <a:rPr lang="en-US" sz="2000" b="1" dirty="0">
                <a:solidFill>
                  <a:schemeClr val="accent6">
                    <a:lumMod val="40000"/>
                    <a:lumOff val="60000"/>
                  </a:schemeClr>
                </a:solidFill>
                <a:latin typeface="+mn-lt"/>
              </a:rPr>
              <a:t>713, 598, 393 </a:t>
            </a:r>
            <a:r>
              <a:rPr lang="en-US" sz="2000" dirty="0">
                <a:latin typeface="+mn-lt"/>
              </a:rPr>
              <a:t>and the least of it is sunglasses</a:t>
            </a:r>
          </a:p>
          <a:p>
            <a:endParaRPr lang="en-US" sz="2000" dirty="0">
              <a:latin typeface="+mn-lt"/>
            </a:endParaRPr>
          </a:p>
          <a:p>
            <a:r>
              <a:rPr lang="en-US" sz="2000" dirty="0">
                <a:latin typeface="+mn-lt"/>
              </a:rPr>
              <a:t>Others and unidentified genders mostly buy jeans, sneakers and casual dresses.</a:t>
            </a:r>
          </a:p>
        </p:txBody>
      </p:sp>
      <p:pic>
        <p:nvPicPr>
          <p:cNvPr id="8" name="Graphic 7" descr="Business Growth">
            <a:extLst>
              <a:ext uri="{FF2B5EF4-FFF2-40B4-BE49-F238E27FC236}">
                <a16:creationId xmlns:a16="http://schemas.microsoft.com/office/drawing/2014/main" id="{32FC833E-5CF1-43DC-957A-7859FFC0F5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01353" y="635587"/>
            <a:ext cx="914400" cy="914400"/>
          </a:xfrm>
          <a:prstGeom prst="rect">
            <a:avLst/>
          </a:prstGeom>
        </p:spPr>
      </p:pic>
    </p:spTree>
    <p:extLst>
      <p:ext uri="{BB962C8B-B14F-4D97-AF65-F5344CB8AC3E}">
        <p14:creationId xmlns:p14="http://schemas.microsoft.com/office/powerpoint/2010/main" val="3722283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A1472938-CD68-4AB3-9260-834BD7830B7B}"/>
              </a:ext>
            </a:extLst>
          </p:cNvPr>
          <p:cNvSpPr/>
          <p:nvPr/>
        </p:nvSpPr>
        <p:spPr>
          <a:xfrm>
            <a:off x="147105" y="1643437"/>
            <a:ext cx="6106037" cy="4849437"/>
          </a:xfrm>
          <a:prstGeom prst="roundRect">
            <a:avLst>
              <a:gd name="adj" fmla="val 3532"/>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E1A1762D-8B49-418F-80D7-AEE2CF859AD4}"/>
              </a:ext>
            </a:extLst>
          </p:cNvPr>
          <p:cNvSpPr/>
          <p:nvPr/>
        </p:nvSpPr>
        <p:spPr>
          <a:xfrm>
            <a:off x="147105" y="239593"/>
            <a:ext cx="6106037" cy="1225136"/>
          </a:xfrm>
          <a:prstGeom prst="roundRect">
            <a:avLst/>
          </a:prstGeom>
          <a:solidFill>
            <a:srgbClr val="6D280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060DA4-BAB7-4D3D-BF10-E6A2F025A063}"/>
              </a:ext>
            </a:extLst>
          </p:cNvPr>
          <p:cNvSpPr>
            <a:spLocks noGrp="1"/>
          </p:cNvSpPr>
          <p:nvPr>
            <p:ph type="title"/>
          </p:nvPr>
        </p:nvSpPr>
        <p:spPr>
          <a:xfrm>
            <a:off x="622443" y="168802"/>
            <a:ext cx="10515600" cy="1325563"/>
          </a:xfrm>
        </p:spPr>
        <p:txBody>
          <a:bodyPr/>
          <a:lstStyle/>
          <a:p>
            <a:r>
              <a:rPr lang="en-US" dirty="0"/>
              <a:t>Key Findings</a:t>
            </a:r>
          </a:p>
        </p:txBody>
      </p:sp>
      <p:pic>
        <p:nvPicPr>
          <p:cNvPr id="4" name="Content Placeholder 3">
            <a:extLst>
              <a:ext uri="{FF2B5EF4-FFF2-40B4-BE49-F238E27FC236}">
                <a16:creationId xmlns:a16="http://schemas.microsoft.com/office/drawing/2014/main" id="{602F1295-1240-411D-8C2A-7942D61839A2}"/>
              </a:ext>
            </a:extLst>
          </p:cNvPr>
          <p:cNvPicPr>
            <a:picLocks noGrp="1" noChangeAspect="1"/>
          </p:cNvPicPr>
          <p:nvPr>
            <p:ph idx="1"/>
          </p:nvPr>
        </p:nvPicPr>
        <p:blipFill>
          <a:blip r:embed="rId2"/>
          <a:stretch>
            <a:fillRect/>
          </a:stretch>
        </p:blipFill>
        <p:spPr>
          <a:xfrm>
            <a:off x="6606282" y="246580"/>
            <a:ext cx="5438613" cy="6246295"/>
          </a:xfrm>
          <a:prstGeom prst="rect">
            <a:avLst/>
          </a:prstGeom>
        </p:spPr>
      </p:pic>
      <p:sp>
        <p:nvSpPr>
          <p:cNvPr id="5" name="Title 1">
            <a:extLst>
              <a:ext uri="{FF2B5EF4-FFF2-40B4-BE49-F238E27FC236}">
                <a16:creationId xmlns:a16="http://schemas.microsoft.com/office/drawing/2014/main" id="{6C8C2B83-E2A2-4EE2-82CA-498943E22DF5}"/>
              </a:ext>
            </a:extLst>
          </p:cNvPr>
          <p:cNvSpPr txBox="1">
            <a:spLocks/>
          </p:cNvSpPr>
          <p:nvPr/>
        </p:nvSpPr>
        <p:spPr>
          <a:xfrm>
            <a:off x="238124" y="1524001"/>
            <a:ext cx="6015017" cy="50482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mn-lt"/>
              </a:rPr>
              <a:t>Female customers make most of their purchases through the app, accounting for </a:t>
            </a:r>
            <a:r>
              <a:rPr lang="en-US" sz="2000" b="1" dirty="0">
                <a:solidFill>
                  <a:schemeClr val="accent6">
                    <a:lumMod val="40000"/>
                    <a:lumOff val="60000"/>
                  </a:schemeClr>
                </a:solidFill>
                <a:latin typeface="+mn-lt"/>
              </a:rPr>
              <a:t>18%</a:t>
            </a:r>
            <a:r>
              <a:rPr lang="en-US" sz="2000" dirty="0">
                <a:latin typeface="+mn-lt"/>
              </a:rPr>
              <a:t> of total sales, while male customers purchase more through the website, contributing </a:t>
            </a:r>
            <a:r>
              <a:rPr lang="en-US" sz="2000" b="1" dirty="0">
                <a:solidFill>
                  <a:schemeClr val="accent6">
                    <a:lumMod val="40000"/>
                    <a:lumOff val="60000"/>
                  </a:schemeClr>
                </a:solidFill>
                <a:latin typeface="+mn-lt"/>
              </a:rPr>
              <a:t>12%.</a:t>
            </a:r>
          </a:p>
          <a:p>
            <a:endParaRPr lang="en-US" sz="2000" dirty="0">
              <a:latin typeface="+mn-lt"/>
            </a:endParaRPr>
          </a:p>
          <a:p>
            <a:r>
              <a:rPr lang="en-US" sz="2000" dirty="0">
                <a:latin typeface="+mn-lt"/>
              </a:rPr>
              <a:t>Customers identified as other or unspecified genders also make most of their purchases through the app.</a:t>
            </a:r>
          </a:p>
          <a:p>
            <a:endParaRPr lang="en-US" sz="2000" dirty="0">
              <a:latin typeface="+mn-lt"/>
            </a:endParaRPr>
          </a:p>
          <a:p>
            <a:r>
              <a:rPr lang="en-US" sz="2000" dirty="0">
                <a:latin typeface="+mn-lt"/>
              </a:rPr>
              <a:t>Female customers are the highest users of Target.com and the partner app, contributing </a:t>
            </a:r>
            <a:r>
              <a:rPr lang="en-US" sz="2000" b="1" dirty="0">
                <a:solidFill>
                  <a:schemeClr val="accent6">
                    <a:lumMod val="40000"/>
                    <a:lumOff val="60000"/>
                  </a:schemeClr>
                </a:solidFill>
                <a:latin typeface="+mn-lt"/>
              </a:rPr>
              <a:t>9.65%</a:t>
            </a:r>
            <a:r>
              <a:rPr lang="en-US" sz="2000" dirty="0">
                <a:latin typeface="+mn-lt"/>
              </a:rPr>
              <a:t> and </a:t>
            </a:r>
            <a:r>
              <a:rPr lang="en-US" sz="2000" b="1" dirty="0">
                <a:solidFill>
                  <a:schemeClr val="accent6">
                    <a:lumMod val="40000"/>
                    <a:lumOff val="60000"/>
                  </a:schemeClr>
                </a:solidFill>
                <a:latin typeface="+mn-lt"/>
              </a:rPr>
              <a:t>6.35%</a:t>
            </a:r>
            <a:r>
              <a:rPr lang="en-US" sz="2000" dirty="0">
                <a:latin typeface="+mn-lt"/>
              </a:rPr>
              <a:t> respectively.</a:t>
            </a:r>
          </a:p>
        </p:txBody>
      </p:sp>
      <p:pic>
        <p:nvPicPr>
          <p:cNvPr id="8" name="Graphic 7" descr="Smart Phone">
            <a:extLst>
              <a:ext uri="{FF2B5EF4-FFF2-40B4-BE49-F238E27FC236}">
                <a16:creationId xmlns:a16="http://schemas.microsoft.com/office/drawing/2014/main" id="{808B24DF-DE63-4A54-AC94-14E3A413ED4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38445" y="394961"/>
            <a:ext cx="914400" cy="914400"/>
          </a:xfrm>
          <a:prstGeom prst="rect">
            <a:avLst/>
          </a:prstGeom>
        </p:spPr>
      </p:pic>
    </p:spTree>
    <p:extLst>
      <p:ext uri="{BB962C8B-B14F-4D97-AF65-F5344CB8AC3E}">
        <p14:creationId xmlns:p14="http://schemas.microsoft.com/office/powerpoint/2010/main" val="482744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6088F986-4EE8-4631-887F-53DCD520C47A}"/>
              </a:ext>
            </a:extLst>
          </p:cNvPr>
          <p:cNvSpPr/>
          <p:nvPr/>
        </p:nvSpPr>
        <p:spPr>
          <a:xfrm>
            <a:off x="180974" y="1690688"/>
            <a:ext cx="5915025" cy="4910137"/>
          </a:xfrm>
          <a:prstGeom prst="roundRect">
            <a:avLst>
              <a:gd name="adj" fmla="val 2857"/>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CB9B5904-5B80-409B-876F-2D4E70A9CA90}"/>
              </a:ext>
            </a:extLst>
          </p:cNvPr>
          <p:cNvSpPr/>
          <p:nvPr/>
        </p:nvSpPr>
        <p:spPr>
          <a:xfrm>
            <a:off x="180974" y="123612"/>
            <a:ext cx="5915025" cy="1225136"/>
          </a:xfrm>
          <a:prstGeom prst="roundRect">
            <a:avLst/>
          </a:prstGeom>
          <a:solidFill>
            <a:srgbClr val="6D280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835C9D-344C-4462-9B97-D57B49B624C8}"/>
              </a:ext>
            </a:extLst>
          </p:cNvPr>
          <p:cNvSpPr>
            <a:spLocks noGrp="1"/>
          </p:cNvSpPr>
          <p:nvPr>
            <p:ph type="title"/>
          </p:nvPr>
        </p:nvSpPr>
        <p:spPr>
          <a:xfrm>
            <a:off x="361202" y="161719"/>
            <a:ext cx="5566987" cy="1011034"/>
          </a:xfrm>
        </p:spPr>
        <p:txBody>
          <a:bodyPr/>
          <a:lstStyle/>
          <a:p>
            <a:r>
              <a:rPr lang="en-US" dirty="0"/>
              <a:t>Key Findings</a:t>
            </a:r>
          </a:p>
        </p:txBody>
      </p:sp>
      <p:pic>
        <p:nvPicPr>
          <p:cNvPr id="4" name="Content Placeholder 3">
            <a:extLst>
              <a:ext uri="{FF2B5EF4-FFF2-40B4-BE49-F238E27FC236}">
                <a16:creationId xmlns:a16="http://schemas.microsoft.com/office/drawing/2014/main" id="{42AD418D-7CAC-43A1-938F-440F64BB0366}"/>
              </a:ext>
            </a:extLst>
          </p:cNvPr>
          <p:cNvPicPr>
            <a:picLocks noGrp="1" noChangeAspect="1"/>
          </p:cNvPicPr>
          <p:nvPr>
            <p:ph idx="1"/>
          </p:nvPr>
        </p:nvPicPr>
        <p:blipFill>
          <a:blip r:embed="rId2"/>
          <a:stretch>
            <a:fillRect/>
          </a:stretch>
        </p:blipFill>
        <p:spPr>
          <a:xfrm>
            <a:off x="6380253" y="257176"/>
            <a:ext cx="5811748" cy="6343649"/>
          </a:xfrm>
          <a:prstGeom prst="rect">
            <a:avLst/>
          </a:prstGeom>
        </p:spPr>
      </p:pic>
      <p:sp>
        <p:nvSpPr>
          <p:cNvPr id="5" name="Title 1">
            <a:extLst>
              <a:ext uri="{FF2B5EF4-FFF2-40B4-BE49-F238E27FC236}">
                <a16:creationId xmlns:a16="http://schemas.microsoft.com/office/drawing/2014/main" id="{710C6021-8E8C-49E8-925C-07ABB5DCF71B}"/>
              </a:ext>
            </a:extLst>
          </p:cNvPr>
          <p:cNvSpPr txBox="1">
            <a:spLocks/>
          </p:cNvSpPr>
          <p:nvPr/>
        </p:nvSpPr>
        <p:spPr>
          <a:xfrm>
            <a:off x="180975" y="2571750"/>
            <a:ext cx="5915024" cy="37973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mn-lt"/>
              </a:rPr>
              <a:t>Customers tend to purchase two items at a time, with </a:t>
            </a:r>
            <a:r>
              <a:rPr lang="en-US" sz="2400" b="1" dirty="0">
                <a:solidFill>
                  <a:schemeClr val="accent6">
                    <a:lumMod val="40000"/>
                    <a:lumOff val="60000"/>
                  </a:schemeClr>
                </a:solidFill>
                <a:latin typeface="+mn-lt"/>
              </a:rPr>
              <a:t>540</a:t>
            </a:r>
            <a:r>
              <a:rPr lang="en-US" sz="2400" dirty="0">
                <a:latin typeface="+mn-lt"/>
              </a:rPr>
              <a:t> orders buying a quantity of two per order. The second highest purchase category is 6–10 items per order, with </a:t>
            </a:r>
            <a:r>
              <a:rPr lang="en-US" sz="2400" b="1" dirty="0">
                <a:solidFill>
                  <a:schemeClr val="accent6">
                    <a:lumMod val="40000"/>
                    <a:lumOff val="60000"/>
                  </a:schemeClr>
                </a:solidFill>
                <a:latin typeface="+mn-lt"/>
              </a:rPr>
              <a:t>414 </a:t>
            </a:r>
            <a:r>
              <a:rPr lang="en-US" sz="2400" dirty="0">
                <a:latin typeface="+mn-lt"/>
              </a:rPr>
              <a:t>orders.</a:t>
            </a:r>
          </a:p>
          <a:p>
            <a:endParaRPr lang="en-US" sz="2400" dirty="0">
              <a:latin typeface="+mn-lt"/>
            </a:endParaRPr>
          </a:p>
          <a:p>
            <a:endParaRPr lang="en-US" sz="2400" dirty="0">
              <a:latin typeface="+mn-lt"/>
            </a:endParaRPr>
          </a:p>
          <a:p>
            <a:r>
              <a:rPr lang="en-US" sz="2400" dirty="0">
                <a:latin typeface="+mn-lt"/>
              </a:rPr>
              <a:t>Female customers are more likely to purchase higher quantities, particularly from six items and above.</a:t>
            </a:r>
          </a:p>
          <a:p>
            <a:endParaRPr lang="en-US" sz="2400" dirty="0">
              <a:latin typeface="+mn-lt"/>
            </a:endParaRPr>
          </a:p>
          <a:p>
            <a:endParaRPr lang="en-US" sz="2400" dirty="0">
              <a:latin typeface="+mn-lt"/>
            </a:endParaRPr>
          </a:p>
          <a:p>
            <a:endParaRPr lang="en-US" sz="2400" dirty="0">
              <a:latin typeface="+mn-lt"/>
            </a:endParaRPr>
          </a:p>
        </p:txBody>
      </p:sp>
      <p:pic>
        <p:nvPicPr>
          <p:cNvPr id="8" name="Graphic 7" descr="Shirt">
            <a:extLst>
              <a:ext uri="{FF2B5EF4-FFF2-40B4-BE49-F238E27FC236}">
                <a16:creationId xmlns:a16="http://schemas.microsoft.com/office/drawing/2014/main" id="{A506E4CE-B698-4F4A-8E6A-8119E5953B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39497" y="152242"/>
            <a:ext cx="657549" cy="523985"/>
          </a:xfrm>
          <a:prstGeom prst="rect">
            <a:avLst/>
          </a:prstGeom>
        </p:spPr>
      </p:pic>
      <p:pic>
        <p:nvPicPr>
          <p:cNvPr id="10" name="Graphic 9" descr="Pants">
            <a:extLst>
              <a:ext uri="{FF2B5EF4-FFF2-40B4-BE49-F238E27FC236}">
                <a16:creationId xmlns:a16="http://schemas.microsoft.com/office/drawing/2014/main" id="{819B765E-C29A-4071-8619-CD30EE43F8D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24450" y="704849"/>
            <a:ext cx="887644" cy="520551"/>
          </a:xfrm>
          <a:prstGeom prst="rect">
            <a:avLst/>
          </a:prstGeom>
        </p:spPr>
      </p:pic>
    </p:spTree>
    <p:extLst>
      <p:ext uri="{BB962C8B-B14F-4D97-AF65-F5344CB8AC3E}">
        <p14:creationId xmlns:p14="http://schemas.microsoft.com/office/powerpoint/2010/main" val="3874995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8DEFF703-7360-4486-A1C8-59C26E186606}"/>
              </a:ext>
            </a:extLst>
          </p:cNvPr>
          <p:cNvSpPr/>
          <p:nvPr/>
        </p:nvSpPr>
        <p:spPr>
          <a:xfrm>
            <a:off x="180975" y="1679866"/>
            <a:ext cx="5514975" cy="5010363"/>
          </a:xfrm>
          <a:prstGeom prst="roundRect">
            <a:avLst>
              <a:gd name="adj" fmla="val 2979"/>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143FF71A-7D5C-4213-B7BF-4B3CEEB0A5B1}"/>
              </a:ext>
            </a:extLst>
          </p:cNvPr>
          <p:cNvSpPr/>
          <p:nvPr/>
        </p:nvSpPr>
        <p:spPr>
          <a:xfrm>
            <a:off x="180975" y="104562"/>
            <a:ext cx="5514976" cy="1225136"/>
          </a:xfrm>
          <a:prstGeom prst="roundRect">
            <a:avLst/>
          </a:prstGeom>
          <a:solidFill>
            <a:srgbClr val="6D280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9C8703-AE00-43B3-893E-BD37AEDD54E2}"/>
              </a:ext>
            </a:extLst>
          </p:cNvPr>
          <p:cNvSpPr>
            <a:spLocks noGrp="1"/>
          </p:cNvSpPr>
          <p:nvPr>
            <p:ph type="title"/>
          </p:nvPr>
        </p:nvSpPr>
        <p:spPr>
          <a:xfrm>
            <a:off x="499717" y="167771"/>
            <a:ext cx="5424833" cy="1161927"/>
          </a:xfrm>
        </p:spPr>
        <p:txBody>
          <a:bodyPr/>
          <a:lstStyle/>
          <a:p>
            <a:r>
              <a:rPr lang="en-US" dirty="0"/>
              <a:t>Key findings</a:t>
            </a:r>
          </a:p>
        </p:txBody>
      </p:sp>
      <p:pic>
        <p:nvPicPr>
          <p:cNvPr id="4" name="Content Placeholder 3">
            <a:extLst>
              <a:ext uri="{FF2B5EF4-FFF2-40B4-BE49-F238E27FC236}">
                <a16:creationId xmlns:a16="http://schemas.microsoft.com/office/drawing/2014/main" id="{354A36B0-28B0-47FE-B5BB-F0FA47B7B5F3}"/>
              </a:ext>
            </a:extLst>
          </p:cNvPr>
          <p:cNvPicPr>
            <a:picLocks noGrp="1" noChangeAspect="1"/>
          </p:cNvPicPr>
          <p:nvPr>
            <p:ph idx="1"/>
          </p:nvPr>
        </p:nvPicPr>
        <p:blipFill>
          <a:blip r:embed="rId2"/>
          <a:stretch>
            <a:fillRect/>
          </a:stretch>
        </p:blipFill>
        <p:spPr>
          <a:xfrm>
            <a:off x="6143707" y="371474"/>
            <a:ext cx="5915025" cy="6267449"/>
          </a:xfrm>
          <a:prstGeom prst="rect">
            <a:avLst/>
          </a:prstGeom>
        </p:spPr>
      </p:pic>
      <p:sp>
        <p:nvSpPr>
          <p:cNvPr id="5" name="Title 1">
            <a:extLst>
              <a:ext uri="{FF2B5EF4-FFF2-40B4-BE49-F238E27FC236}">
                <a16:creationId xmlns:a16="http://schemas.microsoft.com/office/drawing/2014/main" id="{0AB4526A-C32E-43D2-AF09-139547391038}"/>
              </a:ext>
            </a:extLst>
          </p:cNvPr>
          <p:cNvSpPr txBox="1">
            <a:spLocks/>
          </p:cNvSpPr>
          <p:nvPr/>
        </p:nvSpPr>
        <p:spPr>
          <a:xfrm>
            <a:off x="499717" y="1721643"/>
            <a:ext cx="5196233" cy="49172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mn-lt"/>
              </a:rPr>
              <a:t>Day 1 delivery recorded the highest number of orders, with </a:t>
            </a:r>
            <a:r>
              <a:rPr lang="en-US" sz="2000" b="1" dirty="0">
                <a:solidFill>
                  <a:schemeClr val="accent6">
                    <a:lumMod val="40000"/>
                    <a:lumOff val="60000"/>
                  </a:schemeClr>
                </a:solidFill>
                <a:latin typeface="+mn-lt"/>
              </a:rPr>
              <a:t>888 orders </a:t>
            </a:r>
            <a:r>
              <a:rPr lang="en-US" sz="2000" dirty="0">
                <a:latin typeface="+mn-lt"/>
              </a:rPr>
              <a:t>delivered within one day.</a:t>
            </a:r>
          </a:p>
          <a:p>
            <a:endParaRPr lang="en-US" sz="2000" dirty="0">
              <a:latin typeface="+mn-lt"/>
            </a:endParaRPr>
          </a:p>
          <a:p>
            <a:r>
              <a:rPr lang="en-US" sz="2000" dirty="0">
                <a:latin typeface="+mn-lt"/>
              </a:rPr>
              <a:t>Female customers had the highest number of one day deliveries.</a:t>
            </a:r>
          </a:p>
          <a:p>
            <a:endParaRPr lang="en-US" sz="2000" dirty="0">
              <a:latin typeface="+mn-lt"/>
            </a:endParaRPr>
          </a:p>
          <a:p>
            <a:r>
              <a:rPr lang="en-US" sz="2000" dirty="0">
                <a:latin typeface="+mn-lt"/>
              </a:rPr>
              <a:t>The app platform has the fastest average delivery time compared to the other platforms .</a:t>
            </a:r>
          </a:p>
          <a:p>
            <a:r>
              <a:rPr lang="en-US" sz="2000" dirty="0">
                <a:latin typeface="+mn-lt"/>
              </a:rPr>
              <a:t> </a:t>
            </a:r>
          </a:p>
        </p:txBody>
      </p:sp>
      <p:pic>
        <p:nvPicPr>
          <p:cNvPr id="10" name="Graphic 9" descr="Truck">
            <a:extLst>
              <a:ext uri="{FF2B5EF4-FFF2-40B4-BE49-F238E27FC236}">
                <a16:creationId xmlns:a16="http://schemas.microsoft.com/office/drawing/2014/main" id="{A2322E23-3225-4931-B66A-E16DF96C68B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33930" y="310105"/>
            <a:ext cx="914400" cy="914400"/>
          </a:xfrm>
          <a:prstGeom prst="rect">
            <a:avLst/>
          </a:prstGeom>
        </p:spPr>
      </p:pic>
    </p:spTree>
    <p:extLst>
      <p:ext uri="{BB962C8B-B14F-4D97-AF65-F5344CB8AC3E}">
        <p14:creationId xmlns:p14="http://schemas.microsoft.com/office/powerpoint/2010/main" val="524107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0D7FD5B4-9BD3-457A-B049-8871B4A44FD1}"/>
              </a:ext>
            </a:extLst>
          </p:cNvPr>
          <p:cNvSpPr/>
          <p:nvPr/>
        </p:nvSpPr>
        <p:spPr>
          <a:xfrm>
            <a:off x="180891" y="126727"/>
            <a:ext cx="6095999" cy="1225136"/>
          </a:xfrm>
          <a:prstGeom prst="roundRect">
            <a:avLst/>
          </a:prstGeom>
          <a:solidFill>
            <a:srgbClr val="6D280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0C4133E-C49C-4412-9BA1-4E6B04BB9466}"/>
              </a:ext>
            </a:extLst>
          </p:cNvPr>
          <p:cNvSpPr>
            <a:spLocks noGrp="1"/>
          </p:cNvSpPr>
          <p:nvPr>
            <p:ph type="title"/>
          </p:nvPr>
        </p:nvSpPr>
        <p:spPr>
          <a:xfrm>
            <a:off x="266701" y="164828"/>
            <a:ext cx="5353049" cy="1140098"/>
          </a:xfrm>
        </p:spPr>
        <p:txBody>
          <a:bodyPr/>
          <a:lstStyle/>
          <a:p>
            <a:r>
              <a:rPr lang="en-US" dirty="0"/>
              <a:t>Key Findings</a:t>
            </a:r>
          </a:p>
        </p:txBody>
      </p:sp>
      <p:pic>
        <p:nvPicPr>
          <p:cNvPr id="4" name="Picture 3">
            <a:extLst>
              <a:ext uri="{FF2B5EF4-FFF2-40B4-BE49-F238E27FC236}">
                <a16:creationId xmlns:a16="http://schemas.microsoft.com/office/drawing/2014/main" id="{7CBD804D-360E-42F7-9CE2-BB486A4370EC}"/>
              </a:ext>
            </a:extLst>
          </p:cNvPr>
          <p:cNvPicPr>
            <a:picLocks noChangeAspect="1"/>
          </p:cNvPicPr>
          <p:nvPr/>
        </p:nvPicPr>
        <p:blipFill>
          <a:blip r:embed="rId2"/>
          <a:stretch>
            <a:fillRect/>
          </a:stretch>
        </p:blipFill>
        <p:spPr>
          <a:xfrm>
            <a:off x="6667500" y="142875"/>
            <a:ext cx="5343608" cy="6391275"/>
          </a:xfrm>
          <a:prstGeom prst="rect">
            <a:avLst/>
          </a:prstGeom>
        </p:spPr>
      </p:pic>
      <p:sp>
        <p:nvSpPr>
          <p:cNvPr id="6" name="Rectangle: Rounded Corners 5">
            <a:extLst>
              <a:ext uri="{FF2B5EF4-FFF2-40B4-BE49-F238E27FC236}">
                <a16:creationId xmlns:a16="http://schemas.microsoft.com/office/drawing/2014/main" id="{8053FA7D-E73E-4FEF-9797-99B591668BDF}"/>
              </a:ext>
            </a:extLst>
          </p:cNvPr>
          <p:cNvSpPr/>
          <p:nvPr/>
        </p:nvSpPr>
        <p:spPr>
          <a:xfrm>
            <a:off x="266701" y="1596612"/>
            <a:ext cx="6095999" cy="5000625"/>
          </a:xfrm>
          <a:prstGeom prst="roundRect">
            <a:avLst>
              <a:gd name="adj" fmla="val 5705"/>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Throughout the three month period, 4-star ratings were the most common, while only a few customers gave 1-star ratings.</a:t>
            </a:r>
          </a:p>
          <a:p>
            <a:endParaRPr lang="en-US" dirty="0"/>
          </a:p>
          <a:p>
            <a:r>
              <a:rPr lang="en-US" dirty="0"/>
              <a:t>The highest number of 1-star ratings was recorded in </a:t>
            </a:r>
            <a:r>
              <a:rPr lang="en-US" b="1" dirty="0">
                <a:solidFill>
                  <a:schemeClr val="accent6">
                    <a:lumMod val="40000"/>
                    <a:lumOff val="60000"/>
                  </a:schemeClr>
                </a:solidFill>
              </a:rPr>
              <a:t>March</a:t>
            </a:r>
            <a:r>
              <a:rPr lang="en-US" dirty="0"/>
              <a:t>.</a:t>
            </a:r>
          </a:p>
          <a:p>
            <a:endParaRPr lang="en-US" dirty="0"/>
          </a:p>
          <a:p>
            <a:r>
              <a:rPr lang="en-US" b="1" dirty="0">
                <a:solidFill>
                  <a:schemeClr val="accent6">
                    <a:lumMod val="40000"/>
                    <a:lumOff val="60000"/>
                  </a:schemeClr>
                </a:solidFill>
              </a:rPr>
              <a:t>February</a:t>
            </a:r>
            <a:r>
              <a:rPr lang="en-US" dirty="0"/>
              <a:t> had the highest number of positive reviews, with </a:t>
            </a:r>
            <a:r>
              <a:rPr lang="en-US" b="1" dirty="0">
                <a:solidFill>
                  <a:schemeClr val="accent6">
                    <a:lumMod val="40000"/>
                    <a:lumOff val="60000"/>
                  </a:schemeClr>
                </a:solidFill>
              </a:rPr>
              <a:t>373</a:t>
            </a:r>
            <a:r>
              <a:rPr lang="en-US" dirty="0"/>
              <a:t> orders receiving 4 stars and </a:t>
            </a:r>
            <a:r>
              <a:rPr lang="en-US" b="1" dirty="0">
                <a:solidFill>
                  <a:schemeClr val="accent6">
                    <a:lumMod val="40000"/>
                    <a:lumOff val="60000"/>
                  </a:schemeClr>
                </a:solidFill>
              </a:rPr>
              <a:t>247 orders </a:t>
            </a:r>
            <a:r>
              <a:rPr lang="en-US" dirty="0"/>
              <a:t>receiving </a:t>
            </a:r>
            <a:r>
              <a:rPr lang="en-US" b="1" dirty="0">
                <a:solidFill>
                  <a:schemeClr val="accent6">
                    <a:lumMod val="40000"/>
                    <a:lumOff val="60000"/>
                  </a:schemeClr>
                </a:solidFill>
              </a:rPr>
              <a:t>5 stars</a:t>
            </a:r>
            <a:r>
              <a:rPr lang="en-US" dirty="0"/>
              <a:t>.</a:t>
            </a:r>
          </a:p>
          <a:p>
            <a:endParaRPr lang="en-US" dirty="0"/>
          </a:p>
          <a:p>
            <a:r>
              <a:rPr lang="en-US" dirty="0"/>
              <a:t>Female customers gave the highest number of positive reviews in February, with </a:t>
            </a:r>
            <a:r>
              <a:rPr lang="en-US" b="1" dirty="0">
                <a:solidFill>
                  <a:schemeClr val="accent6">
                    <a:lumMod val="40000"/>
                    <a:lumOff val="60000"/>
                  </a:schemeClr>
                </a:solidFill>
              </a:rPr>
              <a:t>204 orders </a:t>
            </a:r>
            <a:r>
              <a:rPr lang="en-US" dirty="0"/>
              <a:t>receiving 4 stars </a:t>
            </a:r>
            <a:r>
              <a:rPr lang="en-US" b="1" dirty="0">
                <a:solidFill>
                  <a:schemeClr val="accent6">
                    <a:lumMod val="40000"/>
                    <a:lumOff val="60000"/>
                  </a:schemeClr>
                </a:solidFill>
              </a:rPr>
              <a:t>and 120 orders </a:t>
            </a:r>
            <a:r>
              <a:rPr lang="en-US" dirty="0"/>
              <a:t>receiving 5 stars.</a:t>
            </a:r>
          </a:p>
          <a:p>
            <a:endParaRPr lang="en-US" dirty="0"/>
          </a:p>
          <a:p>
            <a:r>
              <a:rPr lang="en-US" dirty="0"/>
              <a:t>Male customers gave their highest number of positive reviews in March, with </a:t>
            </a:r>
            <a:r>
              <a:rPr lang="en-US" b="1" dirty="0">
                <a:solidFill>
                  <a:schemeClr val="accent6">
                    <a:lumMod val="40000"/>
                    <a:lumOff val="60000"/>
                  </a:schemeClr>
                </a:solidFill>
              </a:rPr>
              <a:t>153 orders </a:t>
            </a:r>
            <a:r>
              <a:rPr lang="en-US" dirty="0"/>
              <a:t>receiving 4 stars and </a:t>
            </a:r>
            <a:r>
              <a:rPr lang="en-US" b="1" dirty="0">
                <a:solidFill>
                  <a:schemeClr val="accent6">
                    <a:lumMod val="40000"/>
                    <a:lumOff val="60000"/>
                  </a:schemeClr>
                </a:solidFill>
              </a:rPr>
              <a:t>106 orders</a:t>
            </a:r>
            <a:r>
              <a:rPr lang="en-US" dirty="0"/>
              <a:t> receiving 5 stars.</a:t>
            </a:r>
          </a:p>
        </p:txBody>
      </p:sp>
      <p:pic>
        <p:nvPicPr>
          <p:cNvPr id="8" name="Content Placeholder 7" descr="Stars">
            <a:extLst>
              <a:ext uri="{FF2B5EF4-FFF2-40B4-BE49-F238E27FC236}">
                <a16:creationId xmlns:a16="http://schemas.microsoft.com/office/drawing/2014/main" id="{DBB6B8FB-AA07-4B5A-A76F-94FFB0753320}"/>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00655" y="371476"/>
            <a:ext cx="914400" cy="914400"/>
          </a:xfrm>
        </p:spPr>
      </p:pic>
    </p:spTree>
    <p:extLst>
      <p:ext uri="{BB962C8B-B14F-4D97-AF65-F5344CB8AC3E}">
        <p14:creationId xmlns:p14="http://schemas.microsoft.com/office/powerpoint/2010/main" val="268850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AA77D64-BDB5-4F59-BE34-5515E8CBE5D0}"/>
              </a:ext>
            </a:extLst>
          </p:cNvPr>
          <p:cNvSpPr/>
          <p:nvPr/>
        </p:nvSpPr>
        <p:spPr>
          <a:xfrm>
            <a:off x="371391" y="211138"/>
            <a:ext cx="10791909" cy="1225136"/>
          </a:xfrm>
          <a:prstGeom prst="roundRect">
            <a:avLst/>
          </a:prstGeom>
          <a:solidFill>
            <a:srgbClr val="6D280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1DBC568-3F92-4D76-B917-3DAA9518A802}"/>
              </a:ext>
            </a:extLst>
          </p:cNvPr>
          <p:cNvSpPr>
            <a:spLocks noGrp="1"/>
          </p:cNvSpPr>
          <p:nvPr>
            <p:ph type="title"/>
          </p:nvPr>
        </p:nvSpPr>
        <p:spPr>
          <a:xfrm>
            <a:off x="838200" y="230188"/>
            <a:ext cx="10515600" cy="1325563"/>
          </a:xfrm>
        </p:spPr>
        <p:txBody>
          <a:bodyPr/>
          <a:lstStyle/>
          <a:p>
            <a:r>
              <a:rPr lang="en-US" dirty="0"/>
              <a:t>Recommendation</a:t>
            </a:r>
          </a:p>
        </p:txBody>
      </p:sp>
      <p:sp>
        <p:nvSpPr>
          <p:cNvPr id="5" name="Rectangle: Rounded Corners 4">
            <a:extLst>
              <a:ext uri="{FF2B5EF4-FFF2-40B4-BE49-F238E27FC236}">
                <a16:creationId xmlns:a16="http://schemas.microsoft.com/office/drawing/2014/main" id="{C22EF4A5-3206-4B7E-A23C-80900B88F9EC}"/>
              </a:ext>
            </a:extLst>
          </p:cNvPr>
          <p:cNvSpPr/>
          <p:nvPr/>
        </p:nvSpPr>
        <p:spPr>
          <a:xfrm>
            <a:off x="495216" y="1555751"/>
            <a:ext cx="10791909" cy="5187949"/>
          </a:xfrm>
          <a:prstGeom prst="roundRect">
            <a:avLst>
              <a:gd name="adj" fmla="val 3081"/>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5019502-18F2-42BB-93C9-F6F1D02352EA}"/>
              </a:ext>
            </a:extLst>
          </p:cNvPr>
          <p:cNvSpPr>
            <a:spLocks noGrp="1"/>
          </p:cNvSpPr>
          <p:nvPr>
            <p:ph idx="1"/>
          </p:nvPr>
        </p:nvSpPr>
        <p:spPr>
          <a:xfrm>
            <a:off x="647700" y="1739106"/>
            <a:ext cx="10515600" cy="4907755"/>
          </a:xfrm>
        </p:spPr>
        <p:txBody>
          <a:bodyPr>
            <a:normAutofit/>
          </a:bodyPr>
          <a:lstStyle/>
          <a:p>
            <a:r>
              <a:rPr lang="en-US" dirty="0"/>
              <a:t>Based on the findings, the store should focus more on strengthening the app platform, as it generates the highest sales, highest quantity sold, and fastest delivery times. Investing in app marketing, user experience improvement, and exclusive app discounts could further increase revenue.</a:t>
            </a:r>
          </a:p>
          <a:p>
            <a:r>
              <a:rPr lang="en-US" dirty="0"/>
              <a:t>Since female customers represent the majority of buyers and tend to purchase higher quantities, the store should design targeted marketing campaigns, bundle offers, and loyalty programs specifically for female customers to encourage repeat purchases. At the same time, strategies should be developed to increase male customer engagement, particularly on the website.</a:t>
            </a:r>
          </a:p>
        </p:txBody>
      </p:sp>
    </p:spTree>
    <p:extLst>
      <p:ext uri="{BB962C8B-B14F-4D97-AF65-F5344CB8AC3E}">
        <p14:creationId xmlns:p14="http://schemas.microsoft.com/office/powerpoint/2010/main" val="2064307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20A44A96-0C15-4E8A-B121-985E4B0C28A2}"/>
              </a:ext>
            </a:extLst>
          </p:cNvPr>
          <p:cNvSpPr/>
          <p:nvPr/>
        </p:nvSpPr>
        <p:spPr>
          <a:xfrm>
            <a:off x="561891" y="1590261"/>
            <a:ext cx="10791909" cy="5124864"/>
          </a:xfrm>
          <a:prstGeom prst="roundRect">
            <a:avLst>
              <a:gd name="adj" fmla="val 2542"/>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40CDE50E-D0E1-4A75-9280-A130BEECEFB3}"/>
              </a:ext>
            </a:extLst>
          </p:cNvPr>
          <p:cNvSpPr/>
          <p:nvPr/>
        </p:nvSpPr>
        <p:spPr>
          <a:xfrm>
            <a:off x="371391" y="192088"/>
            <a:ext cx="10791909" cy="1225136"/>
          </a:xfrm>
          <a:prstGeom prst="roundRect">
            <a:avLst/>
          </a:prstGeom>
          <a:solidFill>
            <a:srgbClr val="6D280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CDB4A58-B355-4582-A336-2BC0C069B182}"/>
              </a:ext>
            </a:extLst>
          </p:cNvPr>
          <p:cNvSpPr>
            <a:spLocks noGrp="1"/>
          </p:cNvSpPr>
          <p:nvPr>
            <p:ph type="title"/>
          </p:nvPr>
        </p:nvSpPr>
        <p:spPr/>
        <p:txBody>
          <a:bodyPr/>
          <a:lstStyle/>
          <a:p>
            <a:r>
              <a:rPr lang="en-US" dirty="0"/>
              <a:t>Recommendation</a:t>
            </a:r>
          </a:p>
        </p:txBody>
      </p:sp>
      <p:sp>
        <p:nvSpPr>
          <p:cNvPr id="3" name="Content Placeholder 2">
            <a:extLst>
              <a:ext uri="{FF2B5EF4-FFF2-40B4-BE49-F238E27FC236}">
                <a16:creationId xmlns:a16="http://schemas.microsoft.com/office/drawing/2014/main" id="{20F64E4D-9850-49CB-9C41-61E33A4C5114}"/>
              </a:ext>
            </a:extLst>
          </p:cNvPr>
          <p:cNvSpPr>
            <a:spLocks noGrp="1"/>
          </p:cNvSpPr>
          <p:nvPr>
            <p:ph idx="1"/>
          </p:nvPr>
        </p:nvSpPr>
        <p:spPr/>
        <p:txBody>
          <a:bodyPr/>
          <a:lstStyle/>
          <a:p>
            <a:r>
              <a:rPr lang="en-US" dirty="0"/>
              <a:t>Customer satisfaction levels were strong, with an average rating of 4.0. Four-star ratings were the most common throughout the three months, and February recorded the highest number of positive reviews. Delivery performance was efficient, with an average delivery time of two days, and 888 orders delivered within one </a:t>
            </a:r>
            <a:r>
              <a:rPr lang="en-US"/>
              <a:t>day and the </a:t>
            </a:r>
            <a:r>
              <a:rPr lang="en-US" dirty="0"/>
              <a:t>fastest deliveries occurring through the app platform.</a:t>
            </a:r>
          </a:p>
          <a:p>
            <a:r>
              <a:rPr lang="en-US" dirty="0"/>
              <a:t>Overall, the analysis shows strong performance across platforms, high customer satisfaction, and the app emerging as the most effective sales and delivery channel.</a:t>
            </a:r>
          </a:p>
          <a:p>
            <a:endParaRPr lang="en-US" dirty="0"/>
          </a:p>
        </p:txBody>
      </p:sp>
    </p:spTree>
    <p:extLst>
      <p:ext uri="{BB962C8B-B14F-4D97-AF65-F5344CB8AC3E}">
        <p14:creationId xmlns:p14="http://schemas.microsoft.com/office/powerpoint/2010/main" val="4683039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933</TotalTime>
  <Words>941</Words>
  <Application>Microsoft Office PowerPoint</Application>
  <PresentationFormat>Widescreen</PresentationFormat>
  <Paragraphs>72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Arial Black</vt:lpstr>
      <vt:lpstr>Calibri</vt:lpstr>
      <vt:lpstr>Calibri Light</vt:lpstr>
      <vt:lpstr>Office Theme</vt:lpstr>
      <vt:lpstr>SHOP IT STORE ANALYSIS</vt:lpstr>
      <vt:lpstr>Business Problem</vt:lpstr>
      <vt:lpstr>Data Overview</vt:lpstr>
      <vt:lpstr>Key findings</vt:lpstr>
      <vt:lpstr>Key Findings</vt:lpstr>
      <vt:lpstr>Key Findings</vt:lpstr>
      <vt:lpstr>Key Findings</vt:lpstr>
      <vt:lpstr>Key Findings</vt:lpstr>
      <vt:lpstr>Key findings</vt:lpstr>
      <vt:lpstr>Key Findings</vt:lpstr>
      <vt:lpstr>Recommendation</vt:lpstr>
      <vt:lpstr>Recommendation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Precious Ifedolapo</dc:creator>
  <cp:lastModifiedBy>Precious Ifedolapo</cp:lastModifiedBy>
  <cp:revision>37</cp:revision>
  <dcterms:created xsi:type="dcterms:W3CDTF">2026-02-17T14:06:27Z</dcterms:created>
  <dcterms:modified xsi:type="dcterms:W3CDTF">2026-02-19T20:39:03Z</dcterms:modified>
</cp:coreProperties>
</file>